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6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F9E332-1BFC-429D-A37C-C24C8C849AA7}" v="3" dt="2026-09-20T08:14:01.484"/>
    <p1510:client id="{A5FE72D8-0CC7-400A-960E-8AFA8EF565E6}" v="25" dt="2026-09-20T07:36:14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432" y="90"/>
      </p:cViewPr>
      <p:guideLst>
        <p:guide orient="horz" pos="2478"/>
        <p:guide pos="28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C7875B-5244-4C86-B0FE-0AFD9AF179AD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3EE47-B1A2-4552-9A70-25236C2C8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45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3EE47-B1A2-4552-9A70-25236C2C832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846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3EE47-B1A2-4552-9A70-25236C2C832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750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61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4127" y="457200"/>
            <a:ext cx="1134825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127" y="1782762"/>
            <a:ext cx="1134825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78785" y="6525490"/>
            <a:ext cx="2133600" cy="2914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sz="10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35BA8C4-49B0-4B5E-9ED2-E29923BE9B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48803"/>
          <a:stretch/>
        </p:blipFill>
        <p:spPr>
          <a:xfrm>
            <a:off x="464127" y="6579754"/>
            <a:ext cx="1116111" cy="2327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5E7105-1B08-4E07-B8CD-8B2BE451A523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570706" y="-15097"/>
            <a:ext cx="1291313" cy="5260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2ED3DB-05C7-8428-E6C3-135B3364A7B8}"/>
              </a:ext>
            </a:extLst>
          </p:cNvPr>
          <p:cNvSpPr txBox="1"/>
          <p:nvPr userDrawn="1"/>
        </p:nvSpPr>
        <p:spPr>
          <a:xfrm>
            <a:off x="8862019" y="91775"/>
            <a:ext cx="3105337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 </a:t>
            </a:r>
            <a:r>
              <a:rPr sz="1100" b="1" dirty="0" err="1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마이AI랩</a:t>
            </a:r>
            <a:r>
              <a:rPr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(LAB)</a:t>
            </a:r>
            <a:r>
              <a:rPr lang="en-US"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｢AI-</a:t>
            </a:r>
            <a:r>
              <a:rPr sz="1100" b="1" dirty="0" err="1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이음</a:t>
            </a:r>
            <a:r>
              <a:rPr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sz="1100" b="1" dirty="0" err="1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</a:t>
            </a:r>
            <a:r>
              <a:rPr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｣ </a:t>
            </a:r>
            <a:r>
              <a:rPr sz="1100" b="1" dirty="0" err="1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공모전</a:t>
            </a:r>
            <a:endParaRPr sz="1100" b="1" dirty="0">
              <a:solidFill>
                <a:srgbClr val="14305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B92EE8A0-5E0E-C12A-6B86-5F55878C90A7}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I-이음_발표자료_배경이미지_편집용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960120"/>
            <a:ext cx="7543800" cy="4709160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1867819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 dirty="0">
                <a:solidFill>
                  <a:srgbClr val="236FC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국립광주과학관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245" y="1960449"/>
            <a:ext cx="5139548" cy="113877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4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 </a:t>
            </a:r>
            <a:r>
              <a:rPr sz="3400" b="1" dirty="0" err="1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마이AI랩</a:t>
            </a:r>
            <a:r>
              <a:rPr sz="34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(LAB)
｢AI-</a:t>
            </a:r>
            <a:r>
              <a:rPr sz="3400" b="1" dirty="0" err="1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이음</a:t>
            </a:r>
            <a:r>
              <a:rPr sz="34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sz="3400" b="1" dirty="0" err="1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</a:t>
            </a:r>
            <a:r>
              <a:rPr sz="34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｣ </a:t>
            </a:r>
            <a:r>
              <a:rPr sz="3400" b="1" dirty="0" err="1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공모전</a:t>
            </a:r>
            <a:endParaRPr sz="3400" b="1" dirty="0">
              <a:solidFill>
                <a:srgbClr val="14305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99882" y="3778620"/>
            <a:ext cx="671456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3000" b="1" dirty="0">
                <a:solidFill>
                  <a:srgbClr val="129AA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주제 </a:t>
            </a:r>
            <a:r>
              <a:rPr lang="en-US" altLang="ko-KR" sz="3000" b="1" dirty="0">
                <a:solidFill>
                  <a:srgbClr val="129AA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sz="3000" b="1" dirty="0">
                <a:solidFill>
                  <a:srgbClr val="129AA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7164" y="4839044"/>
            <a:ext cx="3119765" cy="4308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0" dirty="0" err="1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참가자</a:t>
            </a:r>
            <a:r>
              <a:rPr lang="en-US" altLang="ko-KR" sz="22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200" b="0" dirty="0" err="1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팀명</a:t>
            </a:r>
            <a:r>
              <a:rPr lang="en-US" altLang="ko-KR" sz="22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sz="22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: 000, 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9912" y="486297"/>
            <a:ext cx="495649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dirty="0">
                <a:solidFill>
                  <a:srgbClr val="236FC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579" y="325860"/>
            <a:ext cx="1097280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dirty="0" err="1">
                <a:solidFill>
                  <a:srgbClr val="14305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제안의</a:t>
            </a:r>
            <a:r>
              <a:rPr sz="3000" dirty="0">
                <a:solidFill>
                  <a:srgbClr val="14305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sz="3000" dirty="0" err="1">
                <a:solidFill>
                  <a:srgbClr val="14305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배경</a:t>
            </a:r>
            <a:endParaRPr sz="3000" dirty="0">
              <a:solidFill>
                <a:srgbClr val="143055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39" y="1645919"/>
            <a:ext cx="10433125" cy="1415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endParaRPr lang="en-US" altLang="ko-KR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sz="16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-</a:t>
            </a:r>
          </a:p>
          <a:p>
            <a:r>
              <a:rPr lang="en-US" sz="160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-</a:t>
            </a:r>
            <a:r>
              <a:rPr lang="en-US" sz="16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endParaRPr lang="en-US"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r>
              <a:rPr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endParaRPr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26D665E-A551-EF19-F8D2-0E3D1B69DEAB}"/>
              </a:ext>
            </a:extLst>
          </p:cNvPr>
          <p:cNvGrpSpPr/>
          <p:nvPr/>
        </p:nvGrpSpPr>
        <p:grpSpPr>
          <a:xfrm>
            <a:off x="1051560" y="3582785"/>
            <a:ext cx="9971116" cy="2302626"/>
            <a:chOff x="1051560" y="3582785"/>
            <a:chExt cx="9971116" cy="2302626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9E23E3C4-BAC5-0FCD-3ECB-7DAD299AA9FC}"/>
                </a:ext>
              </a:extLst>
            </p:cNvPr>
            <p:cNvSpPr/>
            <p:nvPr/>
          </p:nvSpPr>
          <p:spPr>
            <a:xfrm>
              <a:off x="1051560" y="3582785"/>
              <a:ext cx="9971116" cy="2302626"/>
            </a:xfrm>
            <a:prstGeom prst="roundRect">
              <a:avLst>
                <a:gd name="adj" fmla="val 2778"/>
              </a:avLst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D92680-8BA1-184A-76CE-596B2958E070}"/>
                </a:ext>
              </a:extLst>
            </p:cNvPr>
            <p:cNvSpPr txBox="1"/>
            <p:nvPr/>
          </p:nvSpPr>
          <p:spPr>
            <a:xfrm>
              <a:off x="1182118" y="3737403"/>
              <a:ext cx="9722224" cy="16466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   </a:t>
              </a: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</a:t>
              </a:r>
              <a:r>
                <a:rPr kumimoji="0" lang="en-US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안</a:t>
              </a:r>
              <a:r>
                <a:rPr kumimoji="0" lang="ko-KR" altLang="en-US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내</a:t>
              </a:r>
              <a:endPara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0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85750" indent="-285750">
                <a:buFontTx/>
                <a:buChar char="-"/>
              </a:pPr>
              <a:r>
                <a:rPr kumimoji="0" lang="ko-KR" altLang="ko-KR" sz="16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해결하고자 하는 문제, 프로젝트의 필요성, </a:t>
              </a:r>
              <a:r>
                <a:rPr kumimoji="0" lang="ko-KR" altLang="ko-KR" sz="1600" b="0" i="0" u="none" strike="noStrike" cap="none" normalizeH="0" baseline="0" dirty="0" err="1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AI를</a:t>
              </a:r>
              <a:r>
                <a:rPr kumimoji="0" lang="ko-KR" altLang="ko-KR" sz="16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활용하고자 하는 이유 작성</a:t>
              </a:r>
              <a:endParaRPr kumimoji="0" lang="en-US" altLang="ko-KR" sz="1600" b="0" i="0" u="none" strike="noStrike" cap="none" normalizeH="0" baseline="0" dirty="0">
                <a:ln>
                  <a:noFill/>
                </a:ln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85750" indent="-285750">
                <a:buFontTx/>
                <a:buChar char="-"/>
              </a:pP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 예시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현재 상황 → 문제점 발견 → 해결 필요성 → 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AI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활용 필요성</a:t>
              </a:r>
              <a:endPara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en-US" altLang="ko-KR" sz="8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   </a:t>
              </a:r>
            </a:p>
            <a:p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# </a:t>
              </a:r>
              <a:r>
                <a:rPr lang="ko-KR" altLang="en-US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신청서에</a:t>
              </a:r>
              <a:r>
                <a:rPr lang="ko-KR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작성한 문장을 그대로 옮기지 말고</a:t>
              </a:r>
              <a:r>
                <a:rPr lang="ko-KR" altLang="ko-KR" sz="11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그중 가장 설득력 있는 내용과 숫자만 골라 슬라이드 전면에 배치하세요</a:t>
              </a:r>
              <a:r>
                <a:rPr lang="ko-KR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endParaRPr lang="en-US" altLang="ko-KR" sz="1100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      </a:t>
              </a:r>
              <a:r>
                <a:rPr lang="ko-KR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(예: ＂</a:t>
              </a:r>
              <a:r>
                <a:rPr lang="ko-KR" altLang="en-US" sz="1100" dirty="0" err="1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전남</a:t>
              </a:r>
              <a:r>
                <a:rPr lang="ko-KR" altLang="ko-KR" sz="1100" dirty="0" err="1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광주</a:t>
              </a:r>
              <a:r>
                <a:rPr lang="ko-KR" altLang="en-US" sz="1100" dirty="0" err="1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통합특별시</a:t>
              </a:r>
              <a:r>
                <a:rPr lang="ko-KR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북구 1인 가구 고독사 </a:t>
              </a:r>
              <a:r>
                <a:rPr lang="ko-KR" altLang="ko-KR" sz="1100" dirty="0" err="1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위험군</a:t>
              </a:r>
              <a:r>
                <a:rPr lang="ko-KR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○○명" 같은 구체적 근거)</a:t>
              </a:r>
              <a:endParaRPr lang="en-US" altLang="ko-KR" sz="1100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</a:t>
              </a:r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#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그림</a:t>
              </a:r>
              <a:r>
                <a:rPr lang="en-US" altLang="ko-KR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표</a:t>
              </a:r>
              <a:r>
                <a:rPr lang="en-US" altLang="ko-KR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글씨 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등을 활용해 표현하되</a:t>
              </a:r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문장보다는 </a:t>
              </a:r>
              <a:r>
                <a:rPr lang="ko-KR" altLang="en-US" sz="1100" b="1" dirty="0" err="1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인포그래픽과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핵심 문구 등을 활용하여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압축해 작성해 주세요</a:t>
              </a:r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ko-KR" sz="1050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10" name="그래픽 9" descr="확성시1 단색으로 채워진">
              <a:extLst>
                <a:ext uri="{FF2B5EF4-FFF2-40B4-BE49-F238E27FC236}">
                  <a16:creationId xmlns:a16="http://schemas.microsoft.com/office/drawing/2014/main" id="{9E2AF375-E48B-11EE-90B2-F9753322C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43000" y="3691685"/>
              <a:ext cx="423672" cy="42367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03F4D1-8A6A-3662-CD83-1F213A3D5A51}"/>
                </a:ext>
              </a:extLst>
            </p:cNvPr>
            <p:cNvSpPr txBox="1"/>
            <p:nvPr/>
          </p:nvSpPr>
          <p:spPr>
            <a:xfrm>
              <a:off x="1241285" y="5589401"/>
              <a:ext cx="972222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※ 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페이지 이내로 작성해 주세요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   /     ※ 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 안내는 문서 작성시 삭제해 주세요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1100" dirty="0">
                <a:solidFill>
                  <a:srgbClr val="EE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B9460243-241B-053D-57F3-52121B2C9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4BC202F-A0F4-2E44-AFC6-507A7C7A71CA}"/>
              </a:ext>
            </a:extLst>
          </p:cNvPr>
          <p:cNvCxnSpPr>
            <a:cxnSpLocks/>
          </p:cNvCxnSpPr>
          <p:nvPr/>
        </p:nvCxnSpPr>
        <p:spPr>
          <a:xfrm>
            <a:off x="465512" y="879858"/>
            <a:ext cx="1134687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373A0F69-AC72-B5D1-0C56-9971DD5BC12B}"/>
              </a:ext>
            </a:extLst>
          </p:cNvPr>
          <p:cNvSpPr txBox="1"/>
          <p:nvPr/>
        </p:nvSpPr>
        <p:spPr>
          <a:xfrm>
            <a:off x="1005839" y="1645919"/>
            <a:ext cx="10433125" cy="1415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endParaRPr lang="en-US" altLang="ko-KR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sz="16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-</a:t>
            </a:r>
          </a:p>
          <a:p>
            <a:r>
              <a:rPr lang="en-US" sz="160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-</a:t>
            </a:r>
            <a:r>
              <a:rPr lang="en-US" sz="16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endParaRPr lang="en-US"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r>
              <a:rPr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endParaRPr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A3FA1C4-34A6-4604-BE80-592CB67E1616}"/>
              </a:ext>
            </a:extLst>
          </p:cNvPr>
          <p:cNvGrpSpPr/>
          <p:nvPr/>
        </p:nvGrpSpPr>
        <p:grpSpPr>
          <a:xfrm>
            <a:off x="1051560" y="3582785"/>
            <a:ext cx="9971116" cy="2302626"/>
            <a:chOff x="1051560" y="3582785"/>
            <a:chExt cx="9971116" cy="2302626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0594E3AC-479E-2B6A-2C44-8ED8C95CBB99}"/>
                </a:ext>
              </a:extLst>
            </p:cNvPr>
            <p:cNvSpPr/>
            <p:nvPr/>
          </p:nvSpPr>
          <p:spPr>
            <a:xfrm>
              <a:off x="1051560" y="3582785"/>
              <a:ext cx="9971116" cy="2302626"/>
            </a:xfrm>
            <a:prstGeom prst="roundRect">
              <a:avLst>
                <a:gd name="adj" fmla="val 2778"/>
              </a:avLst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82288B2-9B03-6618-1293-5F84858BFED0}"/>
                </a:ext>
              </a:extLst>
            </p:cNvPr>
            <p:cNvSpPr txBox="1"/>
            <p:nvPr/>
          </p:nvSpPr>
          <p:spPr>
            <a:xfrm>
              <a:off x="1182118" y="3737403"/>
              <a:ext cx="9722224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   </a:t>
              </a: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</a:t>
              </a:r>
              <a:r>
                <a:rPr kumimoji="0" lang="en-US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안</a:t>
              </a:r>
              <a:r>
                <a:rPr kumimoji="0" lang="ko-KR" altLang="en-US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내</a:t>
              </a:r>
              <a:endPara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0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85750" indent="-285750">
                <a:buFontTx/>
                <a:buChar char="-"/>
              </a:pPr>
              <a:r>
                <a:rPr kumimoji="0" lang="ko-KR" altLang="en-US" sz="16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프로젝트를 통해 구현하고자 하는 기능과 최종적으로 달성하고자 하는 결과 작성</a:t>
              </a:r>
              <a:endParaRPr kumimoji="0" lang="en-US" altLang="ko-KR" sz="1600" b="0" i="0" u="none" strike="noStrike" cap="none" normalizeH="0" baseline="0" dirty="0">
                <a:ln>
                  <a:noFill/>
                </a:ln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85750" indent="-285750">
                <a:buFontTx/>
                <a:buChar char="-"/>
              </a:pP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 예시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해결하고자 하는 문제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구현할 핵심기능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달성목표</a:t>
              </a:r>
              <a:endPara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en-US" altLang="ko-KR" sz="8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   </a:t>
              </a:r>
            </a:p>
            <a:p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# </a:t>
              </a:r>
              <a:r>
                <a:rPr lang="ko-KR" altLang="en-US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신청서에</a:t>
              </a:r>
              <a:r>
                <a:rPr lang="ko-KR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작성한 문장을 그대로 옮기지 말고</a:t>
              </a:r>
              <a:r>
                <a:rPr lang="ko-KR" altLang="ko-KR" sz="11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그중 가장 설득력 있는 내용과 숫자만 골라 슬라이드 전면에 배치하세요</a:t>
              </a:r>
              <a:r>
                <a:rPr lang="ko-KR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endParaRPr lang="en-US" altLang="ko-KR" sz="1100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#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그림</a:t>
              </a:r>
              <a:r>
                <a:rPr lang="en-US" altLang="ko-KR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표</a:t>
              </a:r>
              <a:r>
                <a:rPr lang="en-US" altLang="ko-KR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글씨 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등을 활용해 표현하되</a:t>
              </a:r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문장보다는 </a:t>
              </a:r>
              <a:r>
                <a:rPr lang="ko-KR" altLang="en-US" sz="1100" b="1" dirty="0" err="1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인포그래픽과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핵심 문구 등을 활용하여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압축해 작성해 주세요</a:t>
              </a:r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ko-KR" sz="1050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31" name="그래픽 30" descr="확성시1 단색으로 채워진">
              <a:extLst>
                <a:ext uri="{FF2B5EF4-FFF2-40B4-BE49-F238E27FC236}">
                  <a16:creationId xmlns:a16="http://schemas.microsoft.com/office/drawing/2014/main" id="{9764D29C-EDDF-F835-5E2D-FBBC9288A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3000" y="3691685"/>
              <a:ext cx="423672" cy="423672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3A3B342-0A03-6B83-7054-2109633914D6}"/>
                </a:ext>
              </a:extLst>
            </p:cNvPr>
            <p:cNvSpPr txBox="1"/>
            <p:nvPr/>
          </p:nvSpPr>
          <p:spPr>
            <a:xfrm>
              <a:off x="1241285" y="5589401"/>
              <a:ext cx="972222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※ 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페이지 이내로 작성해 주세요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   /     ※ 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 안내는 문서 작성시 삭제해 주세요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1100" dirty="0">
                <a:solidFill>
                  <a:srgbClr val="EE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3" name="슬라이드 번호 개체 틀 32">
            <a:extLst>
              <a:ext uri="{FF2B5EF4-FFF2-40B4-BE49-F238E27FC236}">
                <a16:creationId xmlns:a16="http://schemas.microsoft.com/office/drawing/2014/main" id="{10149DE7-6626-E21C-8565-DA2462334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9681F8-B213-5A3C-A5C8-4FAAC311987A}"/>
              </a:ext>
            </a:extLst>
          </p:cNvPr>
          <p:cNvSpPr txBox="1"/>
          <p:nvPr/>
        </p:nvSpPr>
        <p:spPr>
          <a:xfrm>
            <a:off x="369912" y="486297"/>
            <a:ext cx="495649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altLang="ko-KR" sz="2000" dirty="0">
                <a:solidFill>
                  <a:srgbClr val="236FC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03</a:t>
            </a:r>
            <a:endParaRPr sz="2000" dirty="0">
              <a:solidFill>
                <a:srgbClr val="236FCD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E550EA-5B52-7AF9-7496-56E640BB1090}"/>
              </a:ext>
            </a:extLst>
          </p:cNvPr>
          <p:cNvSpPr txBox="1"/>
          <p:nvPr/>
        </p:nvSpPr>
        <p:spPr>
          <a:xfrm>
            <a:off x="839578" y="325860"/>
            <a:ext cx="10982509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3000" dirty="0">
                <a:solidFill>
                  <a:srgbClr val="14305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목표 </a:t>
            </a:r>
            <a:r>
              <a:rPr lang="en-US" altLang="ko-KR" sz="3000" dirty="0">
                <a:solidFill>
                  <a:srgbClr val="14305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3000" dirty="0">
                <a:solidFill>
                  <a:srgbClr val="14305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방향성 및 기대성과 중심</a:t>
            </a:r>
            <a:r>
              <a:rPr lang="en-US" altLang="ko-KR" sz="3000" dirty="0">
                <a:solidFill>
                  <a:srgbClr val="14305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6B33648-EC4D-AB74-D1DC-9974D14E9846}"/>
              </a:ext>
            </a:extLst>
          </p:cNvPr>
          <p:cNvCxnSpPr>
            <a:cxnSpLocks/>
          </p:cNvCxnSpPr>
          <p:nvPr/>
        </p:nvCxnSpPr>
        <p:spPr>
          <a:xfrm>
            <a:off x="465512" y="879858"/>
            <a:ext cx="1134687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6DCD18F1-31A3-260A-E2A7-C72939290A1D}"/>
              </a:ext>
            </a:extLst>
          </p:cNvPr>
          <p:cNvGrpSpPr/>
          <p:nvPr/>
        </p:nvGrpSpPr>
        <p:grpSpPr>
          <a:xfrm>
            <a:off x="1051560" y="3582785"/>
            <a:ext cx="9971116" cy="2302626"/>
            <a:chOff x="1051560" y="3582785"/>
            <a:chExt cx="9971116" cy="2302626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B05C9C7A-6A91-E346-2318-D03B55226EBE}"/>
                </a:ext>
              </a:extLst>
            </p:cNvPr>
            <p:cNvSpPr/>
            <p:nvPr/>
          </p:nvSpPr>
          <p:spPr>
            <a:xfrm>
              <a:off x="1051560" y="3582785"/>
              <a:ext cx="9971116" cy="2302626"/>
            </a:xfrm>
            <a:prstGeom prst="roundRect">
              <a:avLst>
                <a:gd name="adj" fmla="val 2778"/>
              </a:avLst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1FBC6E5-407C-87E4-9658-E34FC5863EC1}"/>
                </a:ext>
              </a:extLst>
            </p:cNvPr>
            <p:cNvSpPr txBox="1"/>
            <p:nvPr/>
          </p:nvSpPr>
          <p:spPr>
            <a:xfrm>
              <a:off x="1182118" y="3737403"/>
              <a:ext cx="9722224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   </a:t>
              </a: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</a:t>
              </a:r>
              <a:r>
                <a:rPr kumimoji="0" lang="en-US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안</a:t>
              </a:r>
              <a:r>
                <a:rPr kumimoji="0" lang="ko-KR" altLang="en-US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내</a:t>
              </a:r>
              <a:endPara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0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85750" indent="-285750">
                <a:buFontTx/>
                <a:buChar char="-"/>
              </a:pPr>
              <a:r>
                <a:rPr kumimoji="0" lang="ko-KR" altLang="en-US" sz="16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프로젝트의 추진절차와 구체적인 실행방법을 단계별로 작성</a:t>
              </a:r>
              <a:br>
                <a:rPr kumimoji="0" lang="en-US" altLang="ko-KR" sz="16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kumimoji="0" lang="en-US" altLang="ko-KR" sz="14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팀 단위 응모</a:t>
              </a:r>
              <a:r>
                <a:rPr lang="ko-KR" altLang="en-US" sz="14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는</a:t>
              </a:r>
              <a:r>
                <a:rPr lang="ko-KR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"팀원 성명 — 담당 역할“</a:t>
              </a:r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4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표기</a:t>
              </a:r>
              <a:r>
                <a:rPr lang="en-US" altLang="ko-KR" sz="14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kumimoji="0" lang="en-US" altLang="ko-KR" sz="1400" b="0" i="0" u="none" strike="noStrike" cap="none" normalizeH="0" baseline="0" dirty="0">
                <a:ln>
                  <a:noFill/>
                </a:ln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85750" indent="-285750">
                <a:buFontTx/>
                <a:buChar char="-"/>
              </a:pP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 예시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아이디어 조사 → 설계 → 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AI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활용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·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개발 → 제작 → 테스트 → 개선</a:t>
              </a:r>
              <a:endPara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en-US" altLang="ko-KR" sz="8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   </a:t>
              </a:r>
            </a:p>
            <a:p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# </a:t>
              </a:r>
              <a:r>
                <a:rPr lang="ko-KR" altLang="en-US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신청서에</a:t>
              </a:r>
              <a:r>
                <a:rPr lang="ko-KR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작성한 문장을 그대로 옮기지 말고</a:t>
              </a:r>
              <a:r>
                <a:rPr lang="ko-KR" altLang="ko-KR" sz="11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그중 가장 설득력 있는 내용과 숫자만 골라 슬라이드 전면에 배치하세요</a:t>
              </a:r>
              <a:r>
                <a:rPr lang="ko-KR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endParaRPr lang="en-US" altLang="ko-KR" sz="1100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#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그림</a:t>
              </a:r>
              <a:r>
                <a:rPr lang="en-US" altLang="ko-KR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표</a:t>
              </a:r>
              <a:r>
                <a:rPr lang="en-US" altLang="ko-KR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글씨 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등을 활용해 표현하되</a:t>
              </a:r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문장보다는 </a:t>
              </a:r>
              <a:r>
                <a:rPr lang="ko-KR" altLang="en-US" sz="1100" b="1" dirty="0" err="1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인포그래픽과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핵심 문구 등을 활용하여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압축해 작성해 주세요</a:t>
              </a:r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ko-KR" sz="1050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16" name="그래픽 15" descr="확성시1 단색으로 채워진">
              <a:extLst>
                <a:ext uri="{FF2B5EF4-FFF2-40B4-BE49-F238E27FC236}">
                  <a16:creationId xmlns:a16="http://schemas.microsoft.com/office/drawing/2014/main" id="{F6BF7317-CD2C-60BB-4B0C-CD9E86D26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3000" y="3691685"/>
              <a:ext cx="423672" cy="42367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72E4083-683C-2E71-FFB4-E320113996A2}"/>
                </a:ext>
              </a:extLst>
            </p:cNvPr>
            <p:cNvSpPr txBox="1"/>
            <p:nvPr/>
          </p:nvSpPr>
          <p:spPr>
            <a:xfrm>
              <a:off x="1241285" y="5589401"/>
              <a:ext cx="972222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※ 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페이지 이내로 작성해 주세요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   /     ※ 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 안내는 문서 작성시 삭제해 주세요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1100" dirty="0">
                <a:solidFill>
                  <a:srgbClr val="EE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200C2E9D-454B-4AAE-B65D-D90A125B3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8E0C68-5B74-86E9-C284-4BBF2C024E99}"/>
              </a:ext>
            </a:extLst>
          </p:cNvPr>
          <p:cNvSpPr txBox="1"/>
          <p:nvPr/>
        </p:nvSpPr>
        <p:spPr>
          <a:xfrm>
            <a:off x="369912" y="486297"/>
            <a:ext cx="495649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dirty="0">
                <a:solidFill>
                  <a:srgbClr val="236FC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</a:t>
            </a:r>
            <a:r>
              <a:rPr lang="en-US" sz="2000" dirty="0">
                <a:solidFill>
                  <a:srgbClr val="236FC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</a:t>
            </a:r>
            <a:endParaRPr sz="2000" dirty="0">
              <a:solidFill>
                <a:srgbClr val="236FCD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0DD1AA-7E8A-74B6-1C9F-AB64EABF5D85}"/>
              </a:ext>
            </a:extLst>
          </p:cNvPr>
          <p:cNvSpPr txBox="1"/>
          <p:nvPr/>
        </p:nvSpPr>
        <p:spPr>
          <a:xfrm>
            <a:off x="839579" y="325860"/>
            <a:ext cx="1097280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3000" dirty="0">
                <a:solidFill>
                  <a:srgbClr val="14305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추진내용</a:t>
            </a:r>
            <a:r>
              <a:rPr lang="en-US" altLang="ko-KR" sz="3000" dirty="0">
                <a:solidFill>
                  <a:srgbClr val="14305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3000" dirty="0">
                <a:solidFill>
                  <a:srgbClr val="14305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실행계획 포함</a:t>
            </a:r>
            <a:r>
              <a:rPr lang="en-US" altLang="ko-KR" sz="3000" dirty="0">
                <a:solidFill>
                  <a:srgbClr val="14305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2C4691-D219-090D-49ED-BF85F4A13E11}"/>
              </a:ext>
            </a:extLst>
          </p:cNvPr>
          <p:cNvSpPr txBox="1"/>
          <p:nvPr/>
        </p:nvSpPr>
        <p:spPr>
          <a:xfrm>
            <a:off x="1005839" y="1645919"/>
            <a:ext cx="10433125" cy="1415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endParaRPr lang="en-US" altLang="ko-KR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sz="16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-</a:t>
            </a:r>
          </a:p>
          <a:p>
            <a:r>
              <a:rPr lang="en-US" sz="160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-</a:t>
            </a:r>
            <a:r>
              <a:rPr lang="en-US" sz="16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endParaRPr lang="en-US"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r>
              <a:rPr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endParaRPr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361CAF5-E83B-9E47-AD4D-0CD3E1736FD6}"/>
              </a:ext>
            </a:extLst>
          </p:cNvPr>
          <p:cNvCxnSpPr>
            <a:cxnSpLocks/>
          </p:cNvCxnSpPr>
          <p:nvPr/>
        </p:nvCxnSpPr>
        <p:spPr>
          <a:xfrm>
            <a:off x="465512" y="879858"/>
            <a:ext cx="1134687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15AC5-CA92-706D-B245-BA6F6EDC0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D9168B-E3F2-4B7A-88D0-C4C0185B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AFAD63-5713-9901-4FFD-D717B115E926}"/>
              </a:ext>
            </a:extLst>
          </p:cNvPr>
          <p:cNvSpPr txBox="1"/>
          <p:nvPr/>
        </p:nvSpPr>
        <p:spPr>
          <a:xfrm>
            <a:off x="369912" y="486297"/>
            <a:ext cx="495649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dirty="0">
                <a:solidFill>
                  <a:srgbClr val="236FC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</a:t>
            </a:r>
            <a:r>
              <a:rPr lang="en-US" sz="2000" dirty="0">
                <a:solidFill>
                  <a:srgbClr val="236FC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</a:t>
            </a:r>
            <a:endParaRPr sz="2000" dirty="0">
              <a:solidFill>
                <a:srgbClr val="236FCD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43328B-429D-EA42-B5CD-A1455B9109CB}"/>
              </a:ext>
            </a:extLst>
          </p:cNvPr>
          <p:cNvSpPr txBox="1"/>
          <p:nvPr/>
        </p:nvSpPr>
        <p:spPr>
          <a:xfrm>
            <a:off x="839579" y="325860"/>
            <a:ext cx="1097280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3000" dirty="0">
                <a:solidFill>
                  <a:srgbClr val="14305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예상되는 어려움 및 극복방안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0B5A93-DE33-3C12-4E1E-DC02EC2BEEFD}"/>
              </a:ext>
            </a:extLst>
          </p:cNvPr>
          <p:cNvSpPr txBox="1"/>
          <p:nvPr/>
        </p:nvSpPr>
        <p:spPr>
          <a:xfrm>
            <a:off x="1005839" y="1645919"/>
            <a:ext cx="10433125" cy="1415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endParaRPr lang="en-US" altLang="ko-KR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sz="16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-</a:t>
            </a:r>
          </a:p>
          <a:p>
            <a:r>
              <a:rPr lang="en-US" sz="160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-</a:t>
            </a:r>
            <a:r>
              <a:rPr lang="en-US" sz="16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endParaRPr lang="en-US"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r>
              <a:rPr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endParaRPr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712AB9E-19A3-3DAA-CE40-9B3C58A01D16}"/>
              </a:ext>
            </a:extLst>
          </p:cNvPr>
          <p:cNvCxnSpPr>
            <a:cxnSpLocks/>
          </p:cNvCxnSpPr>
          <p:nvPr/>
        </p:nvCxnSpPr>
        <p:spPr>
          <a:xfrm>
            <a:off x="465512" y="879858"/>
            <a:ext cx="1134687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A898A00D-6A4C-C8C1-3D66-10275825A75C}"/>
              </a:ext>
            </a:extLst>
          </p:cNvPr>
          <p:cNvGrpSpPr/>
          <p:nvPr/>
        </p:nvGrpSpPr>
        <p:grpSpPr>
          <a:xfrm>
            <a:off x="1051560" y="3582785"/>
            <a:ext cx="9971116" cy="2302626"/>
            <a:chOff x="1051560" y="3582785"/>
            <a:chExt cx="9971116" cy="2302626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F47EC101-A7AA-64C7-29B3-0DE7644176EC}"/>
                </a:ext>
              </a:extLst>
            </p:cNvPr>
            <p:cNvSpPr/>
            <p:nvPr/>
          </p:nvSpPr>
          <p:spPr>
            <a:xfrm>
              <a:off x="1051560" y="3582785"/>
              <a:ext cx="9971116" cy="2302626"/>
            </a:xfrm>
            <a:prstGeom prst="roundRect">
              <a:avLst>
                <a:gd name="adj" fmla="val 2778"/>
              </a:avLst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74E22CB-9325-5366-440A-4CDF586378FF}"/>
                </a:ext>
              </a:extLst>
            </p:cNvPr>
            <p:cNvSpPr txBox="1"/>
            <p:nvPr/>
          </p:nvSpPr>
          <p:spPr>
            <a:xfrm>
              <a:off x="1182118" y="3737403"/>
              <a:ext cx="9722224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   </a:t>
              </a: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</a:t>
              </a:r>
              <a:r>
                <a:rPr kumimoji="0" lang="en-US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안</a:t>
              </a:r>
              <a:r>
                <a:rPr kumimoji="0" lang="ko-KR" altLang="en-US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내</a:t>
              </a:r>
              <a:endPara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0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85750" indent="-285750">
                <a:buFontTx/>
                <a:buChar char="-"/>
              </a:pPr>
              <a:r>
                <a:rPr kumimoji="0" lang="ko-KR" altLang="en-US" sz="16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예상되는 기술적</a:t>
              </a:r>
              <a:r>
                <a:rPr kumimoji="0" lang="en-US" altLang="ko-KR" sz="16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·</a:t>
              </a:r>
              <a:r>
                <a:rPr kumimoji="0" lang="ko-KR" altLang="en-US" sz="16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운영상 어려움과 이를 해결하기 위한 대응방안을 함께 작성</a:t>
              </a:r>
              <a:endParaRPr kumimoji="0" lang="en-US" altLang="ko-KR" sz="1600" b="0" i="0" u="none" strike="noStrike" cap="none" normalizeH="0" baseline="0" dirty="0">
                <a:ln>
                  <a:noFill/>
                </a:ln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85750" indent="-285750">
                <a:buFontTx/>
                <a:buChar char="-"/>
              </a:pP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 예시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예상 문제 → 발생 원인 → 대응 방법 → 보완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·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개선 방안</a:t>
              </a:r>
              <a:endPara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en-US" altLang="ko-KR" sz="8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   </a:t>
              </a:r>
            </a:p>
            <a:p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# </a:t>
              </a:r>
              <a:r>
                <a:rPr lang="ko-KR" altLang="en-US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신청서에</a:t>
              </a:r>
              <a:r>
                <a:rPr lang="ko-KR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작성한 문장을 그대로 옮기지 말고</a:t>
              </a:r>
              <a:r>
                <a:rPr lang="ko-KR" altLang="ko-KR" sz="11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그중 가장 설득력 있는 내용과 숫자만 골라 슬라이드 전면에 배치하세요</a:t>
              </a:r>
              <a:r>
                <a:rPr lang="ko-KR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endParaRPr lang="en-US" altLang="ko-KR" sz="1100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#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그림</a:t>
              </a:r>
              <a:r>
                <a:rPr lang="en-US" altLang="ko-KR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표</a:t>
              </a:r>
              <a:r>
                <a:rPr lang="en-US" altLang="ko-KR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글씨 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등을 활용해 표현하되</a:t>
              </a:r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문장보다는 </a:t>
              </a:r>
              <a:r>
                <a:rPr lang="ko-KR" altLang="en-US" sz="1100" b="1" dirty="0" err="1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인포그래픽과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핵심 문구 등을 활용하여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압축해 작성해 주세요</a:t>
              </a:r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ko-KR" sz="1050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5" name="그래픽 4" descr="확성시1 단색으로 채워진">
              <a:extLst>
                <a:ext uri="{FF2B5EF4-FFF2-40B4-BE49-F238E27FC236}">
                  <a16:creationId xmlns:a16="http://schemas.microsoft.com/office/drawing/2014/main" id="{F141B1F2-C404-8934-716F-4B37E9692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3000" y="3691685"/>
              <a:ext cx="423672" cy="42367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1C5C109-583F-D78C-9B7F-D567089CD1F7}"/>
                </a:ext>
              </a:extLst>
            </p:cNvPr>
            <p:cNvSpPr txBox="1"/>
            <p:nvPr/>
          </p:nvSpPr>
          <p:spPr>
            <a:xfrm>
              <a:off x="1241285" y="5589401"/>
              <a:ext cx="972222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※ 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페이지 이내로 작성해 주세요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   /     ※ 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 안내는 문서 작성시 삭제해 주세요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1100" dirty="0">
                <a:solidFill>
                  <a:srgbClr val="EE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6153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3F690FE4-882E-0FDE-9E15-48886C434CD3}"/>
              </a:ext>
            </a:extLst>
          </p:cNvPr>
          <p:cNvGrpSpPr/>
          <p:nvPr/>
        </p:nvGrpSpPr>
        <p:grpSpPr>
          <a:xfrm>
            <a:off x="1051560" y="3582785"/>
            <a:ext cx="9971116" cy="2302626"/>
            <a:chOff x="1051560" y="3582785"/>
            <a:chExt cx="9971116" cy="230262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7418F853-A681-7229-9554-4BEBA312BB96}"/>
                </a:ext>
              </a:extLst>
            </p:cNvPr>
            <p:cNvSpPr/>
            <p:nvPr/>
          </p:nvSpPr>
          <p:spPr>
            <a:xfrm>
              <a:off x="1051560" y="3582785"/>
              <a:ext cx="9971116" cy="2302626"/>
            </a:xfrm>
            <a:prstGeom prst="roundRect">
              <a:avLst>
                <a:gd name="adj" fmla="val 2778"/>
              </a:avLst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13C0C4-93A6-FF9D-B3F8-64C53CAAD9ED}"/>
                </a:ext>
              </a:extLst>
            </p:cNvPr>
            <p:cNvSpPr txBox="1"/>
            <p:nvPr/>
          </p:nvSpPr>
          <p:spPr>
            <a:xfrm>
              <a:off x="1182118" y="3737403"/>
              <a:ext cx="9722224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   </a:t>
              </a: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</a:t>
              </a:r>
              <a:r>
                <a:rPr kumimoji="0" lang="en-US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안</a:t>
              </a:r>
              <a:r>
                <a:rPr kumimoji="0" lang="ko-KR" altLang="en-US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내</a:t>
              </a:r>
              <a:endPara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0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85750" indent="-285750">
                <a:buFontTx/>
                <a:buChar char="-"/>
              </a:pPr>
              <a:r>
                <a:rPr kumimoji="0" lang="ko-KR" altLang="en-US" sz="16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프로젝트 완성 후 기대되는 문제 해결 효과와 활용 가능성 작성</a:t>
              </a:r>
              <a:endParaRPr kumimoji="0" lang="en-US" altLang="ko-KR" sz="1600" b="0" i="0" u="none" strike="noStrike" cap="none" normalizeH="0" baseline="0" dirty="0">
                <a:ln>
                  <a:noFill/>
                </a:ln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85750" indent="-285750">
                <a:buFontTx/>
                <a:buChar char="-"/>
              </a:pP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 예시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프로젝트 결과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문제 해결 효과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사용자 변화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향후 활용 가능성</a:t>
              </a:r>
              <a:endPara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en-US" altLang="ko-KR" sz="8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   </a:t>
              </a:r>
            </a:p>
            <a:p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# </a:t>
              </a:r>
              <a:r>
                <a:rPr lang="ko-KR" altLang="en-US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신청서에</a:t>
              </a:r>
              <a:r>
                <a:rPr lang="ko-KR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작성한 문장을 그대로 옮기지 말고</a:t>
              </a:r>
              <a:r>
                <a:rPr lang="ko-KR" altLang="ko-KR" sz="11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그중 가장 설득력 있는 내용과 숫자만 골라 슬라이드 전면에 배치하세요</a:t>
              </a:r>
              <a:r>
                <a:rPr lang="ko-KR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endParaRPr lang="en-US" altLang="ko-KR" sz="1100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#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그림</a:t>
              </a:r>
              <a:r>
                <a:rPr lang="en-US" altLang="ko-KR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표</a:t>
              </a:r>
              <a:r>
                <a:rPr lang="en-US" altLang="ko-KR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글씨 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등을 활용해 표현하되</a:t>
              </a:r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문장보다는 </a:t>
              </a:r>
              <a:r>
                <a:rPr lang="ko-KR" altLang="en-US" sz="1100" b="1" dirty="0" err="1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인포그래픽과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핵심 문구 등을 활용하여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압축해 작성해 주세요</a:t>
              </a:r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ko-KR" sz="1050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11" name="그래픽 10" descr="확성시1 단색으로 채워진">
              <a:extLst>
                <a:ext uri="{FF2B5EF4-FFF2-40B4-BE49-F238E27FC236}">
                  <a16:creationId xmlns:a16="http://schemas.microsoft.com/office/drawing/2014/main" id="{9156609D-7DD3-4895-142B-BD43E87AE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3000" y="3691685"/>
              <a:ext cx="423672" cy="42367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249FF6-606D-9497-3895-646C003B40D0}"/>
                </a:ext>
              </a:extLst>
            </p:cNvPr>
            <p:cNvSpPr txBox="1"/>
            <p:nvPr/>
          </p:nvSpPr>
          <p:spPr>
            <a:xfrm>
              <a:off x="1241285" y="5589401"/>
              <a:ext cx="972222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※ 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페이지 이내로 작성해 주세요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   /     ※ 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 안내는 문서 작성시 삭제해 주세요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1100" dirty="0">
                <a:solidFill>
                  <a:srgbClr val="EE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E62809DE-E5D8-F2B3-8141-5E3F767D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66BF21-2B41-CD70-CAA9-ADB8BE179AA5}"/>
              </a:ext>
            </a:extLst>
          </p:cNvPr>
          <p:cNvSpPr txBox="1"/>
          <p:nvPr/>
        </p:nvSpPr>
        <p:spPr>
          <a:xfrm>
            <a:off x="369912" y="486297"/>
            <a:ext cx="495649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dirty="0">
                <a:solidFill>
                  <a:srgbClr val="236FC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</a:t>
            </a:r>
            <a:r>
              <a:rPr lang="en-US" sz="2000" dirty="0">
                <a:solidFill>
                  <a:srgbClr val="236FC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</a:t>
            </a:r>
            <a:endParaRPr sz="2000" dirty="0">
              <a:solidFill>
                <a:srgbClr val="236FCD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378A5E-95FB-2BCC-9B83-7AA84E786C05}"/>
              </a:ext>
            </a:extLst>
          </p:cNvPr>
          <p:cNvSpPr txBox="1"/>
          <p:nvPr/>
        </p:nvSpPr>
        <p:spPr>
          <a:xfrm>
            <a:off x="839579" y="325860"/>
            <a:ext cx="1097280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3000" dirty="0">
                <a:solidFill>
                  <a:srgbClr val="14305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기대효과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515664-D81D-503D-64F9-53BB44D04887}"/>
              </a:ext>
            </a:extLst>
          </p:cNvPr>
          <p:cNvSpPr txBox="1"/>
          <p:nvPr/>
        </p:nvSpPr>
        <p:spPr>
          <a:xfrm>
            <a:off x="1005839" y="1645919"/>
            <a:ext cx="10433125" cy="1415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endParaRPr lang="en-US" altLang="ko-KR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sz="16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-</a:t>
            </a:r>
          </a:p>
          <a:p>
            <a:r>
              <a:rPr lang="en-US" sz="160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-</a:t>
            </a:r>
            <a:r>
              <a:rPr lang="en-US" sz="16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endParaRPr lang="en-US"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r>
              <a:rPr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endParaRPr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22C837F-5463-A2AE-AEBE-C1F07D9B2852}"/>
              </a:ext>
            </a:extLst>
          </p:cNvPr>
          <p:cNvCxnSpPr>
            <a:cxnSpLocks/>
          </p:cNvCxnSpPr>
          <p:nvPr/>
        </p:nvCxnSpPr>
        <p:spPr>
          <a:xfrm>
            <a:off x="465512" y="879858"/>
            <a:ext cx="1134687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solidFill>
            <a:srgbClr val="F7F9FC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98314" y="2156736"/>
            <a:ext cx="7564891" cy="4770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500" b="1" dirty="0" err="1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가상연출도</a:t>
            </a:r>
            <a:r>
              <a:rPr sz="2500" b="1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/ </a:t>
            </a:r>
            <a:r>
              <a:rPr sz="2500" b="1" dirty="0" err="1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r>
              <a:rPr sz="2500" b="1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sz="2500" b="1" dirty="0" err="1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</a:t>
            </a:r>
            <a:r>
              <a:rPr sz="2500" b="1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/ </a:t>
            </a:r>
            <a:r>
              <a:rPr sz="2500" b="1" dirty="0" err="1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공간·현장</a:t>
            </a:r>
            <a:r>
              <a:rPr sz="2500" b="1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sz="2500" b="1" dirty="0" err="1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적용</a:t>
            </a:r>
            <a:r>
              <a:rPr sz="2500" b="1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sz="2500" b="1" dirty="0" err="1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이미지</a:t>
            </a:r>
            <a:r>
              <a:rPr sz="2500" b="1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sz="2500" b="1" dirty="0" err="1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삽입</a:t>
            </a:r>
            <a:endParaRPr sz="2500" b="1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21355" y="2709650"/>
            <a:ext cx="4318810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sz="1800" b="0" dirty="0" err="1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그림·사진·서비스</a:t>
            </a:r>
            <a:r>
              <a:rPr sz="18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sz="1800" b="0" dirty="0" err="1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</a:t>
            </a:r>
            <a:r>
              <a:rPr sz="18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등 </a:t>
            </a:r>
            <a:r>
              <a:rPr sz="1800" b="0" dirty="0" err="1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자유롭게</a:t>
            </a:r>
            <a:r>
              <a:rPr sz="18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sz="1800" b="0" dirty="0" err="1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배치</a:t>
            </a:r>
            <a:endParaRPr sz="1800"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72BDD89-F2F2-BBEB-DF78-3C0FD3E268EF}"/>
              </a:ext>
            </a:extLst>
          </p:cNvPr>
          <p:cNvGrpSpPr/>
          <p:nvPr/>
        </p:nvGrpSpPr>
        <p:grpSpPr>
          <a:xfrm>
            <a:off x="1051560" y="3358192"/>
            <a:ext cx="9971116" cy="2302626"/>
            <a:chOff x="1051560" y="3582785"/>
            <a:chExt cx="9971116" cy="2302626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98359EC1-EA84-B976-EB33-591EB3758B2C}"/>
                </a:ext>
              </a:extLst>
            </p:cNvPr>
            <p:cNvSpPr/>
            <p:nvPr/>
          </p:nvSpPr>
          <p:spPr>
            <a:xfrm>
              <a:off x="1051560" y="3582785"/>
              <a:ext cx="9971116" cy="2302626"/>
            </a:xfrm>
            <a:prstGeom prst="roundRect">
              <a:avLst>
                <a:gd name="adj" fmla="val 2778"/>
              </a:avLst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C7076D-485A-3FAF-A564-99428EDF74F3}"/>
                </a:ext>
              </a:extLst>
            </p:cNvPr>
            <p:cNvSpPr txBox="1"/>
            <p:nvPr/>
          </p:nvSpPr>
          <p:spPr>
            <a:xfrm>
              <a:off x="1182118" y="3737403"/>
              <a:ext cx="9722224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   </a:t>
              </a: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</a:t>
              </a:r>
              <a:r>
                <a:rPr kumimoji="0" lang="en-US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안</a:t>
              </a:r>
              <a:r>
                <a:rPr kumimoji="0" lang="ko-KR" altLang="en-US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내</a:t>
              </a:r>
              <a:endPara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0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85750" indent="-285750">
                <a:buFontTx/>
                <a:buChar char="-"/>
              </a:pPr>
              <a:r>
                <a:rPr kumimoji="0" lang="ko-KR" altLang="en-US" sz="16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제품</a:t>
              </a:r>
              <a:r>
                <a:rPr kumimoji="0" lang="en-US" altLang="ko-KR" sz="16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·</a:t>
              </a:r>
              <a:r>
                <a:rPr kumimoji="0" lang="ko-KR" altLang="en-US" sz="16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서비스의 모습</a:t>
              </a:r>
              <a:r>
                <a:rPr kumimoji="0" lang="en-US" altLang="ko-KR" sz="16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0" lang="ko-KR" altLang="en-US" sz="16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사용 과정 또는 실제 적용 장면을 그림이나 이미지로 표현해 주세요</a:t>
              </a:r>
              <a:r>
                <a:rPr kumimoji="0" lang="en-US" altLang="ko-KR" sz="16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</a:p>
            <a:p>
              <a:pPr marL="285750" indent="-285750">
                <a:buFontTx/>
                <a:buChar char="-"/>
              </a:pP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 예시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사용 상황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제품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·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서비스 작동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AI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처리 과정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사용자 결과 확인</a:t>
              </a:r>
              <a:endPara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en-US" altLang="ko-KR" sz="8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   </a:t>
              </a:r>
            </a:p>
            <a:p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# </a:t>
              </a:r>
              <a:r>
                <a:rPr lang="ko-KR" altLang="en-US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신청서에</a:t>
              </a:r>
              <a:r>
                <a:rPr lang="ko-KR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작성한 문장을 그대로 옮기지 말고</a:t>
              </a:r>
              <a:r>
                <a:rPr lang="ko-KR" altLang="ko-KR" sz="11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그중 가장 설득력 있는 내용과 숫자만 골라 슬라이드 전면에 배치하세요</a:t>
              </a:r>
              <a:r>
                <a:rPr lang="ko-KR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endParaRPr lang="en-US" altLang="ko-KR" sz="1100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#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그림</a:t>
              </a:r>
              <a:r>
                <a:rPr lang="en-US" altLang="ko-KR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표</a:t>
              </a:r>
              <a:r>
                <a:rPr lang="en-US" altLang="ko-KR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글씨 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등을 활용해 표현하되</a:t>
              </a:r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문장보다는 </a:t>
              </a:r>
              <a:r>
                <a:rPr lang="ko-KR" altLang="en-US" sz="1100" b="1" dirty="0" err="1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인포그래픽과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핵심 문구 등을 활용하여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압축해 작성해 주세요</a:t>
              </a:r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ko-KR" sz="1050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17" name="그래픽 16" descr="확성시1 단색으로 채워진">
              <a:extLst>
                <a:ext uri="{FF2B5EF4-FFF2-40B4-BE49-F238E27FC236}">
                  <a16:creationId xmlns:a16="http://schemas.microsoft.com/office/drawing/2014/main" id="{35525ADD-C7C5-5BFA-78A2-8C980AE94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3000" y="3691685"/>
              <a:ext cx="423672" cy="423672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45ACD5F-D5BB-56A6-94B3-4F7184F6BF74}"/>
                </a:ext>
              </a:extLst>
            </p:cNvPr>
            <p:cNvSpPr txBox="1"/>
            <p:nvPr/>
          </p:nvSpPr>
          <p:spPr>
            <a:xfrm>
              <a:off x="1241285" y="5589401"/>
              <a:ext cx="972222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※ 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페이지 이내로 작성해 주세요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   /     ※ 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 안내는 문서 작성시 삭제해 주세요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1100" dirty="0">
                <a:solidFill>
                  <a:srgbClr val="EE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80F9BBEC-4894-26A5-A2F4-9D9814BD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D9CB25-F31D-7032-689A-61BECF12AFB0}"/>
              </a:ext>
            </a:extLst>
          </p:cNvPr>
          <p:cNvSpPr txBox="1"/>
          <p:nvPr/>
        </p:nvSpPr>
        <p:spPr>
          <a:xfrm>
            <a:off x="369912" y="486297"/>
            <a:ext cx="495649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dirty="0">
                <a:solidFill>
                  <a:srgbClr val="236FC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</a:t>
            </a:r>
            <a:r>
              <a:rPr lang="en-US" sz="2000" dirty="0">
                <a:solidFill>
                  <a:srgbClr val="236FC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7</a:t>
            </a:r>
            <a:endParaRPr sz="2000" dirty="0">
              <a:solidFill>
                <a:srgbClr val="236FCD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6A630E-145C-1D1B-B8DF-8ECC9874A9AC}"/>
              </a:ext>
            </a:extLst>
          </p:cNvPr>
          <p:cNvSpPr txBox="1"/>
          <p:nvPr/>
        </p:nvSpPr>
        <p:spPr>
          <a:xfrm>
            <a:off x="839579" y="325860"/>
            <a:ext cx="1097280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3000" dirty="0">
                <a:solidFill>
                  <a:srgbClr val="14305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가상연출도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7ED4B92-EA9B-A39B-27CA-387AD2E5C977}"/>
              </a:ext>
            </a:extLst>
          </p:cNvPr>
          <p:cNvCxnSpPr>
            <a:cxnSpLocks/>
          </p:cNvCxnSpPr>
          <p:nvPr/>
        </p:nvCxnSpPr>
        <p:spPr>
          <a:xfrm>
            <a:off x="465512" y="879858"/>
            <a:ext cx="1134687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943CB65B-1838-0833-A8E5-07B1686FE625}"/>
              </a:ext>
            </a:extLst>
          </p:cNvPr>
          <p:cNvGrpSpPr/>
          <p:nvPr/>
        </p:nvGrpSpPr>
        <p:grpSpPr>
          <a:xfrm>
            <a:off x="1051560" y="3358192"/>
            <a:ext cx="9971116" cy="2302626"/>
            <a:chOff x="1051560" y="3582785"/>
            <a:chExt cx="9971116" cy="2302626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A70949B1-2A4A-3EC6-E604-A9A7F00FABD1}"/>
                </a:ext>
              </a:extLst>
            </p:cNvPr>
            <p:cNvSpPr/>
            <p:nvPr/>
          </p:nvSpPr>
          <p:spPr>
            <a:xfrm>
              <a:off x="1051560" y="3582785"/>
              <a:ext cx="9971116" cy="2302626"/>
            </a:xfrm>
            <a:prstGeom prst="roundRect">
              <a:avLst>
                <a:gd name="adj" fmla="val 2778"/>
              </a:avLst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EF0952E-CB19-A97F-BA9D-B0D407D3DC42}"/>
                </a:ext>
              </a:extLst>
            </p:cNvPr>
            <p:cNvSpPr txBox="1"/>
            <p:nvPr/>
          </p:nvSpPr>
          <p:spPr>
            <a:xfrm>
              <a:off x="1182118" y="3737403"/>
              <a:ext cx="9722224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20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   </a:t>
              </a: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</a:t>
              </a:r>
              <a:r>
                <a:rPr kumimoji="0" lang="en-US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kumimoji="0" lang="ko-KR" altLang="ko-KR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안</a:t>
              </a:r>
              <a:r>
                <a:rPr kumimoji="0" lang="ko-KR" altLang="en-US" sz="2000" b="1" i="0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내</a:t>
              </a:r>
              <a:endPara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kumimoji="0" lang="ko-KR" altLang="ko-KR" sz="8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kumimoji="0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85750" indent="-285750">
                <a:buFontTx/>
                <a:buChar char="-"/>
              </a:pPr>
              <a:r>
                <a:rPr kumimoji="0" lang="ko-KR" altLang="en-US" sz="16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프로젝트 제작 및 수행에 필요한 지원금 사용항목과 활용목적을 작성</a:t>
              </a:r>
              <a:r>
                <a:rPr kumimoji="0" lang="en-US" altLang="ko-KR" sz="1600" b="0" i="0" u="none" strike="noStrike" cap="none" normalizeH="0" baseline="0" dirty="0">
                  <a:ln>
                    <a:noFill/>
                  </a:ln>
                  <a:effectLst/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</a:p>
            <a:p>
              <a:pPr marL="285750" indent="-285750">
                <a:buFontTx/>
                <a:buChar char="-"/>
              </a:pP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 예시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필요한 활동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필요한 품목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·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비용</a:t>
              </a:r>
              <a:r>
                <a:rPr lang="en-US" altLang="ko-KR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6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사용 목적 및 활용방법</a:t>
              </a:r>
              <a:endPara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en-US" altLang="ko-KR" sz="8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   </a:t>
              </a:r>
            </a:p>
            <a:p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# </a:t>
              </a:r>
              <a:r>
                <a:rPr lang="ko-KR" altLang="en-US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신청서에</a:t>
              </a:r>
              <a:r>
                <a:rPr lang="ko-KR" altLang="ko-KR" sz="11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작성한 문장을 그대로 옮기지 말고</a:t>
              </a:r>
              <a:r>
                <a:rPr lang="ko-KR" altLang="ko-KR" sz="11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그중 가장 설득력 있는 내용과 숫자만 골라 슬라이드 전면에 배치하세요</a:t>
              </a:r>
              <a:r>
                <a:rPr lang="ko-KR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endParaRPr lang="en-US" altLang="ko-KR" sz="1100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#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그림</a:t>
              </a:r>
              <a:r>
                <a:rPr lang="en-US" altLang="ko-KR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표</a:t>
              </a:r>
              <a:r>
                <a:rPr lang="en-US" altLang="ko-KR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글씨 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등을 활용해 표현하되</a:t>
              </a:r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문장보다는 </a:t>
              </a:r>
              <a:r>
                <a:rPr lang="ko-KR" altLang="en-US" sz="1100" b="1" dirty="0" err="1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인포그래픽과</a:t>
              </a:r>
              <a:r>
                <a:rPr lang="ko-KR" altLang="en-US" sz="1100" b="1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핵심 문구 등을 활용하여</a:t>
              </a:r>
              <a:r>
                <a:rPr lang="ko-KR" altLang="en-US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압축해 작성해 주세요</a:t>
              </a:r>
              <a:r>
                <a:rPr lang="en-US" altLang="ko-KR" sz="1100" dirty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ko-KR" sz="1050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11" name="그래픽 10" descr="확성시1 단색으로 채워진">
              <a:extLst>
                <a:ext uri="{FF2B5EF4-FFF2-40B4-BE49-F238E27FC236}">
                  <a16:creationId xmlns:a16="http://schemas.microsoft.com/office/drawing/2014/main" id="{D363B2BE-12C8-A8DA-A3DE-99CB71570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3000" y="3691685"/>
              <a:ext cx="423672" cy="42367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1EFD34F-F21A-852A-8539-7DF158A9ADD9}"/>
                </a:ext>
              </a:extLst>
            </p:cNvPr>
            <p:cNvSpPr txBox="1"/>
            <p:nvPr/>
          </p:nvSpPr>
          <p:spPr>
            <a:xfrm>
              <a:off x="1241285" y="5589401"/>
              <a:ext cx="972222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※ 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페이지 이내로 작성해 주세요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   /     ※ </a:t>
              </a:r>
              <a:r>
                <a:rPr lang="ko-KR" altLang="en-US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작성 안내는 문서 작성시 삭제해 주세요</a:t>
              </a:r>
              <a:r>
                <a:rPr lang="en-US" altLang="ko-KR" sz="1100" dirty="0">
                  <a:solidFill>
                    <a:srgbClr val="EE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1100" dirty="0">
                <a:solidFill>
                  <a:srgbClr val="EE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7B922D0-A1F8-2F16-9A8B-061428A5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E55F47-1F4B-F9CC-8407-3524E7E0ED0B}"/>
              </a:ext>
            </a:extLst>
          </p:cNvPr>
          <p:cNvSpPr txBox="1"/>
          <p:nvPr/>
        </p:nvSpPr>
        <p:spPr>
          <a:xfrm>
            <a:off x="369912" y="486297"/>
            <a:ext cx="495649" cy="40011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dirty="0">
                <a:solidFill>
                  <a:srgbClr val="236FC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0</a:t>
            </a:r>
            <a:r>
              <a:rPr lang="en-US" altLang="ko-KR" sz="2000" dirty="0">
                <a:solidFill>
                  <a:srgbClr val="236FC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</a:t>
            </a:r>
            <a:endParaRPr sz="2000" dirty="0">
              <a:solidFill>
                <a:srgbClr val="236FCD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A0E113-E1B4-39E6-D80C-378E128E44A8}"/>
              </a:ext>
            </a:extLst>
          </p:cNvPr>
          <p:cNvSpPr txBox="1"/>
          <p:nvPr/>
        </p:nvSpPr>
        <p:spPr>
          <a:xfrm>
            <a:off x="839579" y="325860"/>
            <a:ext cx="1097280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ko-KR" altLang="en-US" sz="3000" dirty="0">
                <a:solidFill>
                  <a:srgbClr val="14305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지원금 활용계획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6F96CE-FA96-851B-2123-D42B98E2FC42}"/>
              </a:ext>
            </a:extLst>
          </p:cNvPr>
          <p:cNvSpPr txBox="1"/>
          <p:nvPr/>
        </p:nvSpPr>
        <p:spPr>
          <a:xfrm>
            <a:off x="1005839" y="1645919"/>
            <a:ext cx="10433125" cy="1415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endParaRPr lang="en-US" altLang="ko-KR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sz="16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-</a:t>
            </a:r>
          </a:p>
          <a:p>
            <a:r>
              <a:rPr lang="en-US" sz="160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-</a:t>
            </a:r>
            <a:r>
              <a:rPr lang="en-US" sz="16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endParaRPr lang="en-US"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r>
              <a:rPr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◦</a:t>
            </a:r>
            <a:endParaRPr b="0" dirty="0">
              <a:solidFill>
                <a:srgbClr val="505C6C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3510ED7-88D1-F916-73D9-742E436B3C2B}"/>
              </a:ext>
            </a:extLst>
          </p:cNvPr>
          <p:cNvCxnSpPr>
            <a:cxnSpLocks/>
          </p:cNvCxnSpPr>
          <p:nvPr/>
        </p:nvCxnSpPr>
        <p:spPr>
          <a:xfrm>
            <a:off x="465512" y="879858"/>
            <a:ext cx="1134687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I-이음_발표자료_배경이미지_편집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143000" y="1508760"/>
            <a:ext cx="99212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F75702-8FF7-4012-8409-1D1C2DB16E8A}"/>
              </a:ext>
            </a:extLst>
          </p:cNvPr>
          <p:cNvSpPr txBox="1"/>
          <p:nvPr/>
        </p:nvSpPr>
        <p:spPr>
          <a:xfrm>
            <a:off x="1151968" y="2603665"/>
            <a:ext cx="992124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3000" b="1" dirty="0">
                <a:solidFill>
                  <a:srgbClr val="129AA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주제 </a:t>
            </a:r>
            <a:r>
              <a:rPr lang="en-US" altLang="ko-KR" sz="3000" b="1" dirty="0">
                <a:solidFill>
                  <a:srgbClr val="129AA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sz="3000" b="1" dirty="0">
                <a:solidFill>
                  <a:srgbClr val="129AAA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F14C80-5ADC-419A-B897-0A1DD4ADE816}"/>
              </a:ext>
            </a:extLst>
          </p:cNvPr>
          <p:cNvSpPr txBox="1"/>
          <p:nvPr/>
        </p:nvSpPr>
        <p:spPr>
          <a:xfrm>
            <a:off x="1151967" y="4254335"/>
            <a:ext cx="9921241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dirty="0" err="1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참가자</a:t>
            </a:r>
            <a:r>
              <a:rPr lang="en-US" altLang="ko-KR" sz="22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200" b="0" dirty="0" err="1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팀명</a:t>
            </a:r>
            <a:r>
              <a:rPr lang="en-US" altLang="ko-KR" sz="22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sz="2200" b="0" dirty="0">
                <a:solidFill>
                  <a:srgbClr val="505C6C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: 000, 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796</Words>
  <Application>Microsoft Office PowerPoint</Application>
  <PresentationFormat>와이드스크린</PresentationFormat>
  <Paragraphs>118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나눔고딕</vt:lpstr>
      <vt:lpstr>나눔고딕 ExtraBold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윤원찬</dc:creator>
  <cp:keywords/>
  <dc:description>generated using python-pptx</dc:description>
  <cp:lastModifiedBy>국립광주과학관</cp:lastModifiedBy>
  <cp:revision>6</cp:revision>
  <dcterms:created xsi:type="dcterms:W3CDTF">2013-01-27T09:14:16Z</dcterms:created>
  <dcterms:modified xsi:type="dcterms:W3CDTF">2026-09-21T00:25:05Z</dcterms:modified>
  <cp:category/>
</cp:coreProperties>
</file>