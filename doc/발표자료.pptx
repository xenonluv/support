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9E332-1BFC-429D-A37C-C24C8C849AA7}" v="3" dt="2026-09-20T08:14:01.484"/>
    <p1510:client id="{A5FE72D8-0CC7-400A-960E-8AFA8EF565E6}" v="25" dt="2026-09-20T07:36:14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432" y="90"/>
      </p:cViewPr>
      <p:guideLst>
        <p:guide orient="horz" pos="2478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7875B-5244-4C86-B0FE-0AFD9AF179A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3EE47-B1A2-4552-9A70-25236C2C8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3EE47-B1A2-4552-9A70-25236C2C832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846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3EE47-B1A2-4552-9A70-25236C2C83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87509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4127" y="457200"/>
            <a:ext cx="113482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127" y="1782762"/>
            <a:ext cx="113482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78785" y="6525490"/>
            <a:ext cx="2133600" cy="291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0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5BA8C4-49B0-4B5E-9ED2-E29923BE9B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48803"/>
          <a:stretch/>
        </p:blipFill>
        <p:spPr>
          <a:xfrm>
            <a:off x="464127" y="6579754"/>
            <a:ext cx="1116111" cy="2327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5E7105-1B08-4E07-B8CD-8B2BE451A52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570706" y="-15097"/>
            <a:ext cx="1291313" cy="5260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2ED3DB-05C7-8428-E6C3-135B3364A7B8}"/>
              </a:ext>
            </a:extLst>
          </p:cNvPr>
          <p:cNvSpPr txBox="1"/>
          <p:nvPr userDrawn="1"/>
        </p:nvSpPr>
        <p:spPr>
          <a:xfrm>
            <a:off x="8862019" y="91775"/>
            <a:ext cx="310533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2026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마이AI랩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(LAB)</a:t>
            </a:r>
            <a:r>
              <a:rPr lang="en-US"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｢AI-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이음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프로젝트</a:t>
            </a:r>
            <a:r>
              <a:rPr sz="1100" b="1" dirty="0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｣ </a:t>
            </a:r>
            <a:r>
              <a:rPr sz="1100" b="1" dirty="0" err="1">
                <a:solidFill>
                  <a:srgbClr val="143055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공모전</a:t>
            </a:r>
            <a:endParaRPr sz="1100" b="1" dirty="0">
              <a:solidFill>
                <a:srgbClr val="143055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92EE8A0-5E0E-C12A-6B86-5F55878C90A7}"/>
              </a:ext>
            </a:extLst>
          </p:cNvPr>
          <p:cNvSpPr/>
          <p:nvPr userDrawn="1"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6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0" cy="6858000"/>
          </a:xfrm>
          <a:prstGeom prst="rect">
            <a:avLst/>
          </a:prstGeom>
          <a:solidFill>
            <a:srgbClr val="F3F7FF"/>
          </a:solidFill>
          <a:ln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sign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000" y="522000"/>
            <a:ext cx="4464000" cy="271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78000" y="450000"/>
            <a:ext cx="2160000" cy="273600"/>
          </a:xfrm>
          <a:prstGeom prst="roundRect">
            <a:avLst/>
          </a:prstGeom>
          <a:solidFill>
            <a:srgbClr val="3665B5"/>
          </a:solidFill>
          <a:ln w="15240">
            <a:solidFill>
              <a:srgbClr val="3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8000" y="478800"/>
            <a:ext cx="2160000" cy="24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2026 마이AI랩 AI-이음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" y="1098000"/>
            <a:ext cx="4068000" cy="68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F3C6C"/>
                </a:solidFill>
                <a:latin typeface="맑은 고딕"/>
              </a:rPr>
              <a:t>돌봄이음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799" y="1782000"/>
            <a:ext cx="4428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82134"/>
                </a:solidFill>
                <a:latin typeface="맑은 고딕"/>
              </a:rPr>
              <a:t>광주다움 통합돌봄 현장인력을 위한
AI 기록·연계 보조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799" y="2412000"/>
            <a:ext cx="4248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06C84"/>
                </a:solidFill>
                <a:latin typeface="맑은 고딕"/>
              </a:rPr>
              <a:t>방문 직후 30초 구술을 돌봄기록 초안, 인수인계 브리핑, 이상징후 알림 초안으로 전환합니다.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" y="2951999"/>
            <a:ext cx="1332000" cy="66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3041999"/>
            <a:ext cx="1152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F3C6C"/>
                </a:solidFill>
                <a:latin typeface="맑은 고딕"/>
              </a:rPr>
              <a:t>96개 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00" y="3311999"/>
            <a:ext cx="1188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606C84"/>
                </a:solidFill>
                <a:latin typeface="맑은 고딕"/>
              </a:rPr>
              <a:t>행정복지센터 협업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2000" y="2951999"/>
            <a:ext cx="1332000" cy="66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2000" y="3041999"/>
            <a:ext cx="1152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48946"/>
                </a:solidFill>
                <a:latin typeface="맑은 고딕"/>
              </a:rPr>
              <a:t>70개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4000" y="3311999"/>
            <a:ext cx="1188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606C84"/>
                </a:solidFill>
                <a:latin typeface="맑은 고딕"/>
              </a:rPr>
              <a:t>서비스 제공기관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6000" y="2951999"/>
            <a:ext cx="1332000" cy="66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6000" y="3041999"/>
            <a:ext cx="1152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27D2B"/>
                </a:solidFill>
                <a:latin typeface="맑은 고딕"/>
              </a:rPr>
              <a:t>1,200명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7999" y="3311999"/>
            <a:ext cx="1188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606C84"/>
                </a:solidFill>
                <a:latin typeface="맑은 고딕"/>
              </a:rPr>
              <a:t>현장 돌봄인력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8000" y="6019200"/>
            <a:ext cx="8838000" cy="378000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000" y="6120000"/>
            <a:ext cx="8532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참가자: 표준범  |  주제: 대상자 중심의 AI 기록 연결·연계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제안의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광주가 먼저 겪은 통합돌봄의 구조적 병목을 AI 기록·연계로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" y="756000"/>
            <a:ext cx="2772000" cy="1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00" y="756000"/>
            <a:ext cx="43200" cy="1800000"/>
          </a:xfrm>
          <a:prstGeom prst="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999" y="871200"/>
            <a:ext cx="2538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3C6C"/>
                </a:solidFill>
                <a:latin typeface="맑은 고딕"/>
              </a:rPr>
              <a:t>기록이 흩어집니다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999" y="1116000"/>
            <a:ext cx="2538000" cy="138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기관별 수첩·시스템에 기록이 분산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방문 후 기록 작성과 특이사항 보고를 별도 수행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메모 후 재입력으로 돌봄 시간이 줄어듦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756000"/>
            <a:ext cx="2772000" cy="1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0000" y="756000"/>
            <a:ext cx="43200" cy="1800000"/>
          </a:xfrm>
          <a:prstGeom prst="rect">
            <a:avLst/>
          </a:prstGeom>
          <a:solidFill>
            <a:srgbClr val="148946"/>
          </a:solidFill>
          <a:ln>
            <a:solidFill>
              <a:srgbClr val="148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6000" y="871200"/>
            <a:ext cx="2538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48946"/>
                </a:solidFill>
                <a:latin typeface="맑은 고딕"/>
              </a:rPr>
              <a:t>맥락이 끊깁니다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6000" y="1116000"/>
            <a:ext cx="2538000" cy="138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한 대상자를 여러 기관이 함께 돌보는 구조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담당자 교체·기관 연계 시 이전 돌봄 맥락 소실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사례회의 전에 기록 취합 부담 증가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8000" y="756000"/>
            <a:ext cx="2772000" cy="1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8000" y="756000"/>
            <a:ext cx="43200" cy="1800000"/>
          </a:xfrm>
          <a:prstGeom prst="rect">
            <a:avLst/>
          </a:prstGeom>
          <a:solidFill>
            <a:srgbClr val="67329E"/>
          </a:solidFill>
          <a:ln>
            <a:solidFill>
              <a:srgbClr val="673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4000" y="871200"/>
            <a:ext cx="2538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67329E"/>
                </a:solidFill>
                <a:latin typeface="맑은 고딕"/>
              </a:rPr>
              <a:t>전국 확산 전환점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4000" y="1116000"/>
            <a:ext cx="2538000" cy="138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2026년 3월 전국 통합돌봄 법 시행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광주가 먼저 경험한 문제가 타 지자체로 확산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182134"/>
                </a:solidFill>
                <a:latin typeface="맑은 고딕"/>
              </a:rPr>
              <a:t>광주 검증 모델은 전국 적용 가능성이 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999" y="2898000"/>
            <a:ext cx="8424000" cy="1080000"/>
          </a:xfrm>
          <a:prstGeom prst="roundRect">
            <a:avLst/>
          </a:prstGeom>
          <a:solidFill>
            <a:srgbClr val="ECF3FC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000" y="3006000"/>
            <a:ext cx="7992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F3C6C"/>
                </a:solidFill>
                <a:latin typeface="맑은 고딕"/>
              </a:rPr>
              <a:t>핵심 문제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" y="3294000"/>
            <a:ext cx="7632000" cy="259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182134"/>
                </a:solidFill>
                <a:latin typeface="맑은 고딕"/>
              </a:rPr>
              <a:t>돌봄은 ‘대상자 중심’인데 기록은 ‘기관별’로 남습니다.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3671999"/>
            <a:ext cx="702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606C84"/>
                </a:solidFill>
                <a:latin typeface="맑은 고딕"/>
              </a:rPr>
              <a:t>AI가 기존 시스템을 대체하는 것이 아니라, 현장인력이 바로 붙여 넣고 공유할 수 있는 초안을 만듭니다.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4392000"/>
            <a:ext cx="8532000" cy="165599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4518000"/>
            <a:ext cx="8063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3C6C"/>
                </a:solidFill>
                <a:latin typeface="맑은 고딕"/>
              </a:rPr>
              <a:t>기존 서비스와의 차별성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" y="4914000"/>
            <a:ext cx="2268000" cy="68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606C84"/>
                </a:solidFill>
                <a:latin typeface="맑은 고딕"/>
              </a:rPr>
              <a:t>기관 내부 관리
급여정산·안부확인 중심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0000" y="4986000"/>
            <a:ext cx="468000" cy="46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>
                <a:solidFill>
                  <a:srgbClr val="F27D2B"/>
                </a:solidFill>
                <a:latin typeface="맑은 고딕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0" y="4842000"/>
            <a:ext cx="3671999" cy="75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F3C6C"/>
                </a:solidFill>
                <a:latin typeface="맑은 고딕"/>
              </a:rPr>
              <a:t>대상자별 기록 연결
기관 간 인수인계·위험신호 확인까지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목표: 기록·연계·안전의 To-Be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정량목표와 정성목표를 한 장으로 압축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pic>
        <p:nvPicPr>
          <p:cNvPr id="7" name="Picture 6" descr="인포그래픽_3_목표요약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0" y="630000"/>
            <a:ext cx="9000000" cy="480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추진내용: MVP 핵심 기능과 현장검증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30초 구술에서 규격 산출물 3종까지 이어지는 실행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pic>
        <p:nvPicPr>
          <p:cNvPr id="7" name="Picture 6" descr="인포그래픽_4_추진내용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0" y="594000"/>
            <a:ext cx="9000000" cy="500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15AC5-CA92-706D-B245-BA6F6EDC0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예상되는 어려움 및 극복방안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기술·운영·일정 리스크를 MVP 범위와 현장 운영 원칙으로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000" y="72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3999" y="838800"/>
            <a:ext cx="396000" cy="244800"/>
          </a:xfrm>
          <a:prstGeom prst="roundRect">
            <a:avLst/>
          </a:prstGeom>
          <a:solidFill>
            <a:srgbClr val="148946"/>
          </a:solidFill>
          <a:ln w="15240">
            <a:solidFill>
              <a:srgbClr val="148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86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000" y="84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48946"/>
                </a:solidFill>
                <a:latin typeface="맑은 고딕"/>
              </a:rPr>
              <a:t>실증기관 섭외 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115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광주 북구를 1순위로 접촉하고 노인복지관·수행기관을 병행 협의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기관 섭외가 어려우면 개인 참여형 파일럿으로 대체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4000" y="72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60000" y="838800"/>
            <a:ext cx="396000" cy="244800"/>
          </a:xfrm>
          <a:prstGeom prst="roundRect">
            <a:avLst/>
          </a:prstGeom>
          <a:solidFill>
            <a:srgbClr val="3665B5"/>
          </a:solidFill>
          <a:ln w="15240">
            <a:solidFill>
              <a:srgbClr val="3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0" y="86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000" y="84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665B5"/>
                </a:solidFill>
                <a:latin typeface="맑은 고딕"/>
              </a:rPr>
              <a:t>음성인식 정확도 저하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2000" y="115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어르신 음성이 아닌 돌봄인력 본인의 구술을 입력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STT 결과를 AI가 문맥 보정하고 텍스트 직접 입력도 병행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000" y="243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999" y="2548800"/>
            <a:ext cx="396000" cy="244800"/>
          </a:xfrm>
          <a:prstGeom prst="roundRect">
            <a:avLst/>
          </a:prstGeom>
          <a:solidFill>
            <a:srgbClr val="E04348"/>
          </a:solidFill>
          <a:ln w="15240">
            <a:solidFill>
              <a:srgbClr val="E04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257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000" y="255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E04348"/>
                </a:solidFill>
                <a:latin typeface="맑은 고딕"/>
              </a:rPr>
              <a:t>개인정보·민감정보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286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음성 원본과 개인식별정보 미저장, 가명처리 원칙 적용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현장 실증 전 참여자 사전동의 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4000" y="243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60000" y="2548800"/>
            <a:ext cx="396000" cy="244800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0" y="257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6000" y="255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3C6C"/>
                </a:solidFill>
                <a:latin typeface="맑은 고딕"/>
              </a:rPr>
              <a:t>기존 시스템 중복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2000" y="286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기존 시스템을 대체하지 않고 초안 생성 보조도구로 운영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복사·붙여넣기 가능한 규격 텍스트로 업무 흐름에 연계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8000" y="414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999" y="4258800"/>
            <a:ext cx="396000" cy="244800"/>
          </a:xfrm>
          <a:prstGeom prst="roundRect">
            <a:avLst/>
          </a:prstGeom>
          <a:solidFill>
            <a:srgbClr val="F27D2B"/>
          </a:solidFill>
          <a:ln w="15240">
            <a:solidFill>
              <a:srgbClr val="F2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999" y="428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000" y="426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7D2B"/>
                </a:solidFill>
                <a:latin typeface="맑은 고딕"/>
              </a:rPr>
              <a:t>7주 개발 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457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MVP를 핵심 기능 3종으로 한정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기능 ① 음성→기록 초안을 최소 완성요건으로 우선 개발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34000" y="4140000"/>
            <a:ext cx="4121999" cy="13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60000" y="4258800"/>
            <a:ext cx="396000" cy="244800"/>
          </a:xfrm>
          <a:prstGeom prst="roundRect">
            <a:avLst/>
          </a:prstGeom>
          <a:solidFill>
            <a:srgbClr val="67329E"/>
          </a:solidFill>
          <a:ln w="15240">
            <a:solidFill>
              <a:srgbClr val="673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0000" y="4287600"/>
            <a:ext cx="396000" cy="2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000" y="4266000"/>
            <a:ext cx="3311999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67329E"/>
                </a:solidFill>
                <a:latin typeface="맑은 고딕"/>
              </a:rPr>
              <a:t>AI 결과 부정확성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2000" y="4579200"/>
            <a:ext cx="3671999" cy="666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모든 결과는 최종본이 아닌 초안으로 제공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70">
                <a:solidFill>
                  <a:srgbClr val="182134"/>
                </a:solidFill>
                <a:latin typeface="맑은 고딕"/>
              </a:rPr>
              <a:t>이상징후는 판정이 아닌 확인 필요 신호로만 표시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8000" y="5796000"/>
            <a:ext cx="8442000" cy="378000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00" y="5893200"/>
            <a:ext cx="8028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운영 원칙: AI는 판단자가 아니라 현장인력이 확인·수정할 수 있는 기록·연계 보조자입니다.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0615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돌봄인력의 시간을 회복하고 기관 간 공백을 줄이며 전국 확산 모델로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000" y="737999"/>
            <a:ext cx="2646000" cy="18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900000"/>
            <a:ext cx="2304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F3C6C"/>
                </a:solidFill>
                <a:latin typeface="맑은 고딕"/>
              </a:rPr>
              <a:t>돌봄인력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" y="1252800"/>
            <a:ext cx="2142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1F3C6C"/>
                </a:solidFill>
                <a:latin typeface="맑은 고딕"/>
              </a:rPr>
              <a:t>50%↓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" y="1800000"/>
            <a:ext cx="2088000" cy="43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기록·행정시간 감소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돌봄시간 확대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2000" y="737999"/>
            <a:ext cx="2646000" cy="18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000" y="900000"/>
            <a:ext cx="2304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48946"/>
                </a:solidFill>
                <a:latin typeface="맑은 고딕"/>
              </a:rPr>
              <a:t>참여기관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4000" y="1252800"/>
            <a:ext cx="2142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148946"/>
                </a:solidFill>
                <a:latin typeface="맑은 고딕"/>
              </a:rPr>
              <a:t>연계↑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1800000"/>
            <a:ext cx="2088000" cy="43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기록 공유·인수인계 개선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기관 간 정보 단절 축소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737999"/>
            <a:ext cx="2646000" cy="18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8000" y="900000"/>
            <a:ext cx="2304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67329E"/>
                </a:solidFill>
                <a:latin typeface="맑은 고딕"/>
              </a:rPr>
              <a:t>돌봄 대상자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000" y="1252800"/>
            <a:ext cx="2142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67329E"/>
                </a:solidFill>
                <a:latin typeface="맑은 고딕"/>
              </a:rPr>
              <a:t>안전↑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000" y="1800000"/>
            <a:ext cx="2088000" cy="432000"/>
          </a:xfrm>
          <a:prstGeom prst="rect">
            <a:avLst/>
          </a:prstGeom>
          <a:noFill/>
        </p:spPr>
        <p:txBody>
          <a:bodyPr wrap="none" lIns="36000" rIns="36000" tIns="18000" bIns="1800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위험신호 조기 발견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82134"/>
                </a:solidFill>
                <a:latin typeface="맑은 고딕"/>
              </a:rPr>
              <a:t>대응 지연·돌봄 공백 감소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000" y="2970000"/>
            <a:ext cx="8424000" cy="1170000"/>
          </a:xfrm>
          <a:prstGeom prst="roundRect">
            <a:avLst/>
          </a:prstGeom>
          <a:solidFill>
            <a:srgbClr val="ECF3FC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3114000"/>
            <a:ext cx="7956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3C6C"/>
                </a:solidFill>
                <a:latin typeface="맑은 고딕"/>
              </a:rPr>
              <a:t>확산 가능성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000" y="3438000"/>
            <a:ext cx="7668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82134"/>
                </a:solidFill>
                <a:latin typeface="맑은 고딕"/>
              </a:rPr>
              <a:t>2026년 전국 통합돌봄 시행으로 다기관 협업 과제가 확대됩니다. 광주에서 검증한 모델은 전남·전북 등 생활권 인접 지역과 전국 지자체로 확산할 수 있습니다.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8000" y="4482000"/>
            <a:ext cx="8424000" cy="115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4626000"/>
            <a:ext cx="7956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3C6C"/>
                </a:solidFill>
                <a:latin typeface="맑은 고딕"/>
              </a:rPr>
              <a:t>사회적 가치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000" y="4932000"/>
            <a:ext cx="7668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82134"/>
                </a:solidFill>
                <a:latin typeface="맑은 고딕"/>
              </a:rPr>
              <a:t>초고령사회에서 기록 부담을 줄여 돌봄업무의 지속가능성을 높이고, 공공 영역과 연계 가능한 공익 도구의 원형을 제시합니다.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가상연출도: 이상징후 확인과 연계 알림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현장 기록이 기관 간 확인 가능한 화면과 모바일 알림 초안으로 전환되는 모습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pic>
        <p:nvPicPr>
          <p:cNvPr id="7" name="Picture 6" descr="design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00" y="630000"/>
            <a:ext cx="9036000" cy="4914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3999" y="5760000"/>
            <a:ext cx="8568000" cy="413999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000" y="5875200"/>
            <a:ext cx="8208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방문기록 속 복약 누락·낙상 위험·식사량 감소 같은 신호를 모아 담당자에게 ‘먼저 볼 대상자’를 제시합니다.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70000" y="129600"/>
            <a:ext cx="558000" cy="259200"/>
          </a:xfrm>
          <a:prstGeom prst="roundRect">
            <a:avLst/>
          </a:prstGeom>
          <a:solidFill>
            <a:srgbClr val="1F3C6C"/>
          </a:solidFill>
          <a:ln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342000" y="162000"/>
            <a:ext cx="432000" cy="19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122400"/>
            <a:ext cx="6480000" cy="280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F3C6C"/>
                </a:solidFill>
                <a:latin typeface="맑은 고딕"/>
              </a:rPr>
              <a:t>지원금 활용계획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406799"/>
            <a:ext cx="7020000" cy="17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06C84"/>
                </a:solidFill>
                <a:latin typeface="맑은 고딕"/>
              </a:rPr>
              <a:t>직접 개발을 전제로 API 사용료와 현장 실증 비용에 집중 편성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4000" y="187200"/>
            <a:ext cx="468000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606C84"/>
                </a:solidFill>
                <a:latin typeface="맑은 고딕"/>
              </a:rPr>
              <a:t>돌봄이음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" y="756000"/>
            <a:ext cx="252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F3C6C"/>
                </a:solidFill>
                <a:latin typeface="맑은 고딕"/>
              </a:rPr>
              <a:t>총 3,000,000원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134000"/>
            <a:ext cx="360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06C84"/>
                </a:solidFill>
                <a:latin typeface="맑은 고딕"/>
              </a:rPr>
              <a:t>외주 비중은 최소화하고, 서비스 구현·실증·검증에 필요한 비용을 우선 배분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1602000"/>
            <a:ext cx="4266000" cy="306000"/>
          </a:xfrm>
          <a:prstGeom prst="rect">
            <a:avLst/>
          </a:prstGeom>
          <a:solidFill>
            <a:srgbClr val="3665B5"/>
          </a:solidFill>
          <a:ln>
            <a:solidFill>
              <a:srgbClr val="3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0000" y="1602000"/>
            <a:ext cx="1422000" cy="306000"/>
          </a:xfrm>
          <a:prstGeom prst="rect">
            <a:avLst/>
          </a:prstGeom>
          <a:solidFill>
            <a:srgbClr val="148946"/>
          </a:solidFill>
          <a:ln>
            <a:solidFill>
              <a:srgbClr val="148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2000" y="1602000"/>
            <a:ext cx="853200" cy="306000"/>
          </a:xfrm>
          <a:prstGeom prst="rect">
            <a:avLst/>
          </a:prstGeom>
          <a:solidFill>
            <a:srgbClr val="67329E"/>
          </a:solidFill>
          <a:ln>
            <a:solidFill>
              <a:srgbClr val="673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55200" y="1602000"/>
            <a:ext cx="1422000" cy="306000"/>
          </a:xfrm>
          <a:prstGeom prst="rect">
            <a:avLst/>
          </a:prstGeom>
          <a:solidFill>
            <a:srgbClr val="F27D2B"/>
          </a:solidFill>
          <a:ln>
            <a:solidFill>
              <a:srgbClr val="F2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7200" y="1602000"/>
            <a:ext cx="568800" cy="306000"/>
          </a:xfrm>
          <a:prstGeom prst="rect">
            <a:avLst/>
          </a:prstGeom>
          <a:solidFill>
            <a:srgbClr val="1FA1AE"/>
          </a:solidFill>
          <a:ln>
            <a:solidFill>
              <a:srgbClr val="1FA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999" y="1998000"/>
            <a:ext cx="849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0">
                <a:solidFill>
                  <a:srgbClr val="606C84"/>
                </a:solidFill>
                <a:latin typeface="맑은 고딕"/>
              </a:rPr>
              <a:t>단위: 만원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000" y="2322000"/>
            <a:ext cx="8514000" cy="4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000" y="2440800"/>
            <a:ext cx="900000" cy="234000"/>
          </a:xfrm>
          <a:prstGeom prst="roundRect">
            <a:avLst/>
          </a:prstGeom>
          <a:solidFill>
            <a:srgbClr val="3665B5"/>
          </a:solidFill>
          <a:ln w="15240">
            <a:solidFill>
              <a:srgbClr val="3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000" y="2469600"/>
            <a:ext cx="900000" cy="205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재료비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2000" y="2437200"/>
            <a:ext cx="8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3665B5"/>
                </a:solidFill>
                <a:latin typeface="맑은 고딕"/>
              </a:rPr>
              <a:t>150만원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2451600"/>
            <a:ext cx="59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182134"/>
                </a:solidFill>
                <a:latin typeface="맑은 고딕"/>
              </a:rPr>
              <a:t>AI API·STT·호스팅·조사용 물품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8000" y="2988000"/>
            <a:ext cx="8514000" cy="4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2000" y="3106800"/>
            <a:ext cx="900000" cy="234000"/>
          </a:xfrm>
          <a:prstGeom prst="roundRect">
            <a:avLst/>
          </a:prstGeom>
          <a:solidFill>
            <a:srgbClr val="148946"/>
          </a:solidFill>
          <a:ln w="15240">
            <a:solidFill>
              <a:srgbClr val="148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00" y="3135600"/>
            <a:ext cx="900000" cy="205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지급자문료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2000" y="3103200"/>
            <a:ext cx="8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48946"/>
                </a:solidFill>
                <a:latin typeface="맑은 고딕"/>
              </a:rPr>
              <a:t>50만원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00" y="3117600"/>
            <a:ext cx="59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182134"/>
                </a:solidFill>
                <a:latin typeface="맑은 고딕"/>
              </a:rPr>
              <a:t>전문가 자문 및 멘토링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8000" y="3654000"/>
            <a:ext cx="8514000" cy="4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22000" y="3772800"/>
            <a:ext cx="900000" cy="234000"/>
          </a:xfrm>
          <a:prstGeom prst="roundRect">
            <a:avLst/>
          </a:prstGeom>
          <a:solidFill>
            <a:srgbClr val="67329E"/>
          </a:solidFill>
          <a:ln w="15240">
            <a:solidFill>
              <a:srgbClr val="673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000" y="3801600"/>
            <a:ext cx="900000" cy="205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용역비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2000" y="3769200"/>
            <a:ext cx="8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67329E"/>
                </a:solidFill>
                <a:latin typeface="맑은 고딕"/>
              </a:rPr>
              <a:t>30만원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0000" y="3783600"/>
            <a:ext cx="59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182134"/>
                </a:solidFill>
                <a:latin typeface="맑은 고딕"/>
              </a:rPr>
              <a:t>UI/UX 디자인 부분 외주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8000" y="4320000"/>
            <a:ext cx="8514000" cy="4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2000" y="4438800"/>
            <a:ext cx="900000" cy="234000"/>
          </a:xfrm>
          <a:prstGeom prst="roundRect">
            <a:avLst/>
          </a:prstGeom>
          <a:solidFill>
            <a:srgbClr val="F27D2B"/>
          </a:solidFill>
          <a:ln w="15240">
            <a:solidFill>
              <a:srgbClr val="F2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2000" y="4467600"/>
            <a:ext cx="900000" cy="205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국내여비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2000" y="4435200"/>
            <a:ext cx="8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7D2B"/>
                </a:solidFill>
                <a:latin typeface="맑은 고딕"/>
              </a:rPr>
              <a:t>50만원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0000" y="4449600"/>
            <a:ext cx="59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182134"/>
                </a:solidFill>
                <a:latin typeface="맑은 고딕"/>
              </a:rPr>
              <a:t>선행사례 조사·실증기관 방문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8000" y="4986000"/>
            <a:ext cx="8514000" cy="4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2000" y="5104800"/>
            <a:ext cx="900000" cy="234000"/>
          </a:xfrm>
          <a:prstGeom prst="roundRect">
            <a:avLst/>
          </a:prstGeom>
          <a:solidFill>
            <a:srgbClr val="1FA1AE"/>
          </a:solidFill>
          <a:ln w="15240">
            <a:solidFill>
              <a:srgbClr val="1FA1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2000" y="5133600"/>
            <a:ext cx="900000" cy="205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홍보비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2000" y="5101200"/>
            <a:ext cx="8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A1AE"/>
                </a:solidFill>
                <a:latin typeface="맑은 고딕"/>
              </a:rPr>
              <a:t>20만원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0000" y="5115600"/>
            <a:ext cx="59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>
                <a:solidFill>
                  <a:srgbClr val="182134"/>
                </a:solidFill>
                <a:latin typeface="맑은 고딕"/>
              </a:rPr>
              <a:t>소개 페이지·성과 시연 영상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8000" y="5832000"/>
            <a:ext cx="8514000" cy="342000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000" y="5922000"/>
            <a:ext cx="8063999" cy="13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예산의 50%는 생성형 AI·STT·클라우드 등 실제 MVP 구현 재료비에 배정합니다.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4000" y="6652800"/>
            <a:ext cx="251999" cy="12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06C84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8000" y="450000"/>
            <a:ext cx="1872000" cy="273600"/>
          </a:xfrm>
          <a:prstGeom prst="roundRect">
            <a:avLst/>
          </a:prstGeom>
          <a:solidFill>
            <a:srgbClr val="3665B5"/>
          </a:solidFill>
          <a:ln w="15240">
            <a:solidFill>
              <a:srgbClr val="366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000" y="478800"/>
            <a:ext cx="1872000" cy="24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2026 마이AI랩 AI-이음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" y="1080000"/>
            <a:ext cx="3851999" cy="46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1F3C6C"/>
                </a:solidFill>
                <a:latin typeface="맑은 고딕"/>
              </a:rPr>
              <a:t>돌봄이음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1728000"/>
            <a:ext cx="4392000" cy="50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82134"/>
                </a:solidFill>
                <a:latin typeface="맑은 고딕"/>
              </a:rPr>
              <a:t>30초 구술로 기록 부담을 줄이고,
기관 간 돌봄 맥락을 이어갑니다.</a:t>
            </a:r>
          </a:p>
        </p:txBody>
      </p:sp>
      <p:pic>
        <p:nvPicPr>
          <p:cNvPr id="6" name="Picture 5" descr="design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000" y="558000"/>
            <a:ext cx="4428000" cy="27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78000" y="3258000"/>
            <a:ext cx="8838000" cy="198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3600000"/>
            <a:ext cx="558000" cy="270000"/>
          </a:xfrm>
          <a:prstGeom prst="roundRect">
            <a:avLst/>
          </a:prstGeom>
          <a:solidFill>
            <a:srgbClr val="1F3C6C"/>
          </a:solidFill>
          <a:ln w="15240">
            <a:solidFill>
              <a:srgbClr val="1F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3628800"/>
            <a:ext cx="558000" cy="241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기록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6000" y="3571200"/>
            <a:ext cx="1800000" cy="34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82134"/>
                </a:solidFill>
                <a:latin typeface="맑은 고딕"/>
              </a:rPr>
              <a:t>규격 돌봄기록 초안 자동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0000" y="3600000"/>
            <a:ext cx="558000" cy="270000"/>
          </a:xfrm>
          <a:prstGeom prst="roundRect">
            <a:avLst/>
          </a:prstGeom>
          <a:solidFill>
            <a:srgbClr val="148946"/>
          </a:solidFill>
          <a:ln w="15240">
            <a:solidFill>
              <a:srgbClr val="148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0000" y="3628800"/>
            <a:ext cx="558000" cy="241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연계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6000" y="3571200"/>
            <a:ext cx="1800000" cy="34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82134"/>
                </a:solidFill>
                <a:latin typeface="맑은 고딕"/>
              </a:rPr>
              <a:t>대상자별 통합 인수인계 브리핑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000" y="3600000"/>
            <a:ext cx="558000" cy="270000"/>
          </a:xfrm>
          <a:prstGeom prst="roundRect">
            <a:avLst/>
          </a:prstGeom>
          <a:solidFill>
            <a:srgbClr val="67329E"/>
          </a:solidFill>
          <a:ln w="15240">
            <a:solidFill>
              <a:srgbClr val="673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3628800"/>
            <a:ext cx="558000" cy="241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맑은 고딕"/>
              </a:rPr>
              <a:t>안전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6000" y="3571200"/>
            <a:ext cx="1800000" cy="34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82134"/>
                </a:solidFill>
                <a:latin typeface="맑은 고딕"/>
              </a:rPr>
              <a:t>이상징후 표시와 알림 초안 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000" y="5976000"/>
            <a:ext cx="883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606C84"/>
                </a:solidFill>
                <a:latin typeface="맑은 고딕"/>
              </a:rPr>
              <a:t>참가자: 표준범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796</Words>
  <Application>Microsoft Office PowerPoint</Application>
  <PresentationFormat>와이드스크린</PresentationFormat>
  <Paragraphs>118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나눔고딕</vt:lpstr>
      <vt:lpstr>나눔고딕 ExtraBold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윤원찬</dc:creator>
  <cp:keywords/>
  <dc:description>generated using python-pptx</dc:description>
  <cp:lastModifiedBy>국립광주과학관</cp:lastModifiedBy>
  <cp:revision>6</cp:revision>
  <dcterms:created xsi:type="dcterms:W3CDTF">2013-01-27T09:14:16Z</dcterms:created>
  <dcterms:modified xsi:type="dcterms:W3CDTF">2026-09-21T00:25:05Z</dcterms:modified>
  <cp:category/>
</cp:coreProperties>
</file>