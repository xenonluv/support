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8"/>
    <p:sldId id="257" r:id="rId9"/>
    <p:sldId id="258" r:id="rId10"/>
    <p:sldId id="259" r:id="rId7"/>
    <p:sldId id="260" r:id="rId6"/>
    <p:sldId id="261" r:id="rId5"/>
    <p:sldId id="262" r:id="rId4"/>
    <p:sldId id="263" r:id="rId3"/>
    <p:sldId id="264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9E332-1BFC-429D-A37C-C24C8C849AA7}" v="3" dt="2026-09-20T08:14:01.484"/>
    <p1510:client id="{A5FE72D8-0CC7-400A-960E-8AFA8EF565E6}" v="25" dt="2026-09-20T07:36:14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432" y="90"/>
      </p:cViewPr>
      <p:guideLst>
        <p:guide orient="horz" pos="2478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예산(만원)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  <a:ln w="25400">
                <a:solidFill>
                  <a:srgbClr val="F3F7FF"/>
                </a:solidFill>
              </a:ln>
            </c:spPr>
          </c:dPt>
          <c:dPt>
            <c:idx val="1"/>
            <c:spPr>
              <a:solidFill>
                <a:srgbClr val="16A34A"/>
              </a:solidFill>
              <a:ln w="25400">
                <a:solidFill>
                  <a:srgbClr val="F3F7FF"/>
                </a:solidFill>
              </a:ln>
            </c:spPr>
          </c:dPt>
          <c:dPt>
            <c:idx val="2"/>
            <c:spPr>
              <a:solidFill>
                <a:srgbClr val="7C3AED"/>
              </a:solidFill>
              <a:ln w="25400">
                <a:solidFill>
                  <a:srgbClr val="F3F7FF"/>
                </a:solidFill>
              </a:ln>
            </c:spPr>
          </c:dPt>
          <c:dPt>
            <c:idx val="3"/>
            <c:spPr>
              <a:solidFill>
                <a:srgbClr val="EA7A1E"/>
              </a:solidFill>
              <a:ln w="25400">
                <a:solidFill>
                  <a:srgbClr val="F3F7FF"/>
                </a:solidFill>
              </a:ln>
            </c:spPr>
          </c:dPt>
          <c:dPt>
            <c:idx val="4"/>
            <c:spPr>
              <a:solidFill>
                <a:srgbClr val="0E9AA7"/>
              </a:solidFill>
              <a:ln w="25400">
                <a:solidFill>
                  <a:srgbClr val="F3F7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재료비</c:v>
                </c:pt>
                <c:pt idx="1">
                  <c:v>지급자문료</c:v>
                </c:pt>
                <c:pt idx="2">
                  <c:v>용역비</c:v>
                </c:pt>
                <c:pt idx="3">
                  <c:v>국내여비</c:v>
                </c:pt>
                <c:pt idx="4">
                  <c:v>홍보비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50</c:v>
                </c:pt>
                <c:pt idx="2">
                  <c:v>30</c:v>
                </c:pt>
                <c:pt idx="3">
                  <c:v>50</c:v>
                </c:pt>
                <c:pt idx="4">
                  <c:v>20</c:v>
                </c:pt>
              </c:numCache>
            </c:numRef>
          </c:val>
        </c:ser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875B-5244-4C86-B0FE-0AFD9AF179A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3EE47-B1A2-4552-9A70-25236C2C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6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4127" y="457200"/>
            <a:ext cx="11348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127" y="1782762"/>
            <a:ext cx="113482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78785" y="6525490"/>
            <a:ext cx="2133600" cy="291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5BA8C4-49B0-4B5E-9ED2-E29923BE9B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48803"/>
          <a:stretch/>
        </p:blipFill>
        <p:spPr>
          <a:xfrm>
            <a:off x="464127" y="6579754"/>
            <a:ext cx="1116111" cy="232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5E7105-1B08-4E07-B8CD-8B2BE451A52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570706" y="-15097"/>
            <a:ext cx="1291313" cy="526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2ED3DB-05C7-8428-E6C3-135B3364A7B8}"/>
              </a:ext>
            </a:extLst>
          </p:cNvPr>
          <p:cNvSpPr txBox="1"/>
          <p:nvPr userDrawn="1"/>
        </p:nvSpPr>
        <p:spPr>
          <a:xfrm>
            <a:off x="8862019" y="91775"/>
            <a:ext cx="310533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마이AI랩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(LAB)</a:t>
            </a:r>
            <a:r>
              <a:rPr lang="en-US"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｢AI-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이음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｣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공모전</a:t>
            </a:r>
            <a:endParaRPr sz="1100" b="1" dirty="0">
              <a:solidFill>
                <a:srgbClr val="14305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92EE8A0-5E0E-C12A-6B86-5F55878C90A7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66928" y="868680"/>
            <a:ext cx="5623560" cy="5257800"/>
          </a:xfrm>
          <a:prstGeom prst="roundRect">
            <a:avLst>
              <a:gd name="adj" fmla="val 313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14400" y="1207008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207008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 마이AI랩 AI-이음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54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돌봄이음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광주다움 통합돌봄 현장인력을 위한</a:t>
            </a:r>
          </a:p>
          <a:p>
            <a:pPr algn="l">
              <a:lnSpc>
                <a:spcPct val="115000"/>
              </a:lnSpc>
            </a:pPr>
            <a:r>
              <a:rPr sz="20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AI 기록·연계 보조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방문 직후 30초 구술을 돌봄기록 초안, 인수인계 브리핑, 이상징후 알림 초안으로 전환합니다.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536192" cy="960120"/>
          </a:xfrm>
          <a:prstGeom prst="roundRect">
            <a:avLst>
              <a:gd name="adj" fmla="val 9523"/>
            </a:avLst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0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96개 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109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0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행정복지센터 협업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4480560"/>
            <a:ext cx="1536192" cy="960120"/>
          </a:xfrm>
          <a:prstGeom prst="roundRect">
            <a:avLst>
              <a:gd name="adj" fmla="val 9523"/>
            </a:avLst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87752" y="4572000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000" b="1" i="0" lang="ko-KR" altLang="en-US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70개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50109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0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서비스 제공기관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4480560"/>
            <a:ext cx="1536192" cy="960120"/>
          </a:xfrm>
          <a:prstGeom prst="roundRect">
            <a:avLst>
              <a:gd name="adj" fmla="val 9523"/>
            </a:avLst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61104" y="4572000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000" b="1" i="0" lang="ko-KR" altLang="en-US">
                <a:solidFill>
                  <a:srgbClr val="EA7A1E"/>
                </a:solidFill>
                <a:latin typeface="맑은 고딕"/>
                <a:ea typeface="맑은 고딕"/>
                <a:cs typeface="맑은 고딕"/>
              </a:rPr>
              <a:t>1,200명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50109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0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현장 돌봄인력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참가자  </a:t>
            </a:r>
            <a:r>
              <a:rPr sz="110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표준범</a:t>
            </a: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  주제  </a:t>
            </a:r>
            <a:r>
              <a:rPr sz="110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대상자 중심의 AI 기록 연결·연계</a:t>
            </a:r>
          </a:p>
        </p:txBody>
      </p:sp>
      <p:pic>
        <p:nvPicPr>
          <p:cNvPr id="20" name="Picture 1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57400"/>
            <a:ext cx="5120640" cy="2880360"/>
          </a:xfrm>
          <a:prstGeom prst="rect">
            <a:avLst/>
          </a:prstGeom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제안의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광주가 먼저 겪은 통합돌봄의 구조적 병목을 AI 기록·연계로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5052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60" y="188366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8836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883664"/>
            <a:ext cx="25908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7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기록이 흩어집니다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32304"/>
            <a:ext cx="3048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2000"/>
              </a:lnSpc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기관별 수첩·시스템에 기록이 분산</a:t>
            </a:r>
          </a:p>
          <a:p>
            <a:pPr algn="l" marL="182880" indent="-182880">
              <a:lnSpc>
                <a:spcPct val="112000"/>
              </a:lnSpc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방문 후 기록 작성과 특이사항 보고를 별도 수행</a:t>
            </a:r>
          </a:p>
          <a:p>
            <a:pPr algn="l" marL="182880" indent="-182880">
              <a:lnSpc>
                <a:spcPct val="112000"/>
              </a:lnSpc>
              <a:buClr>
                <a:srgbClr val="2563EB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메모 후 재입력으로 돌봄 시간이 줄어듦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1645920"/>
            <a:ext cx="35052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602480" y="1883664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02480" y="18836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3688" y="1883664"/>
            <a:ext cx="25908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700" b="1" i="0" lang="ko-KR" altLang="en-US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맥락이 끊깁니다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32304"/>
            <a:ext cx="3048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2000"/>
              </a:lnSpc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 대상자를 여러 기관이 함께 돌보는 구조</a:t>
            </a:r>
          </a:p>
          <a:p>
            <a:pPr algn="l" marL="182880" indent="-182880">
              <a:lnSpc>
                <a:spcPct val="112000"/>
              </a:lnSpc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담당자 교체·기관 연계 시 이전 돌봄 맥락 소실</a:t>
            </a:r>
          </a:p>
          <a:p>
            <a:pPr algn="l" marL="182880" indent="-182880">
              <a:lnSpc>
                <a:spcPct val="112000"/>
              </a:lnSpc>
              <a:buClr>
                <a:srgbClr val="16A34A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사례회의 전에 기록 취합 부담 증가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1645920"/>
            <a:ext cx="35052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81999" y="1883664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81999" y="18836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3208" y="1883664"/>
            <a:ext cx="259080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7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전국 확산 전환점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288" y="2432304"/>
            <a:ext cx="3048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2000"/>
              </a:lnSpc>
              <a:spcAft>
                <a:spcPts val="400"/>
              </a:spcAft>
              <a:buClr>
                <a:srgbClr val="7C3AED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2026년 3월 전국 통합돌봄 법 시행</a:t>
            </a:r>
          </a:p>
          <a:p>
            <a:pPr algn="l" marL="182880" indent="-182880">
              <a:lnSpc>
                <a:spcPct val="112000"/>
              </a:lnSpc>
              <a:spcAft>
                <a:spcPts val="400"/>
              </a:spcAft>
              <a:buClr>
                <a:srgbClr val="7C3AED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광주가 먼저 경험한 문제가 타 지자체로 확산</a:t>
            </a:r>
          </a:p>
          <a:p>
            <a:pPr algn="l" marL="182880" indent="-182880">
              <a:lnSpc>
                <a:spcPct val="112000"/>
              </a:lnSpc>
              <a:buClr>
                <a:srgbClr val="7C3AED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광주 검증 모델은 전국 적용 가능성이 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14800"/>
            <a:ext cx="11064240" cy="960120"/>
          </a:xfrm>
          <a:prstGeom prst="roundRect">
            <a:avLst>
              <a:gd name="adj" fmla="val 11428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86968" y="44119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44119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58568" y="4206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돌봄은 </a:t>
            </a:r>
            <a:r>
              <a:rPr sz="2000" b="1" i="0" lang="ko-KR" altLang="en-US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‘대상자 중심’</a:t>
            </a:r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인데 기록은 </a:t>
            </a:r>
            <a:r>
              <a:rPr sz="2000" b="1" i="0" lang="ko-KR" altLang="en-US">
                <a:solidFill>
                  <a:srgbClr val="FCD34D"/>
                </a:solidFill>
                <a:latin typeface="맑은 고딕"/>
                <a:ea typeface="맑은 고딕"/>
                <a:cs typeface="맑은 고딕"/>
              </a:rPr>
              <a:t>‘기관별’</a:t>
            </a:r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남습니다.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466344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250" b="0" i="0" lang="ko-KR" altLang="en-US">
                <a:solidFill>
                  <a:srgbClr val="D6E0F5"/>
                </a:solidFill>
                <a:latin typeface="맑은 고딕"/>
                <a:ea typeface="맑은 고딕"/>
                <a:cs typeface="맑은 고딕"/>
              </a:rPr>
              <a:t>AI가 기존 시스템을 대체하는 것이 아니라, 현장인력이 바로 붙여 넣고 공유할 수 있는 초안을 만듭니다.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03520"/>
            <a:ext cx="2194560" cy="10241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기존 서비스와의</a:t>
            </a:r>
          </a:p>
          <a:p>
            <a:pPr algn="l">
              <a:lnSpc>
                <a:spcPct val="120000"/>
              </a:lnSpc>
            </a:pPr>
            <a:r>
              <a:rPr sz="1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61488" y="5303520"/>
            <a:ext cx="3977640" cy="1024128"/>
          </a:xfrm>
          <a:prstGeom prst="roundRect">
            <a:avLst>
              <a:gd name="adj" fmla="val 10714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81528" y="5303520"/>
            <a:ext cx="3429000" cy="10241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  <a:p>
            <a:pPr algn="l">
              <a:lnSpc>
                <a:spcPct val="125000"/>
              </a:lnSpc>
            </a:pPr>
            <a:r>
              <a:rPr sz="160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기관 내부 관리</a:t>
            </a:r>
          </a:p>
          <a:p>
            <a:pPr algn="l">
              <a:lnSpc>
                <a:spcPct val="125000"/>
              </a:lnSpc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급여정산·안부확인 중심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22008" y="5586983"/>
            <a:ext cx="548640" cy="4572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53528" y="5303520"/>
            <a:ext cx="3977640" cy="1024128"/>
          </a:xfrm>
          <a:prstGeom prst="roundRect">
            <a:avLst>
              <a:gd name="adj" fmla="val 10714"/>
            </a:avLst>
          </a:prstGeom>
          <a:solidFill>
            <a:srgbClr val="E8F0FE"/>
          </a:solidFill>
          <a:ln w="9525">
            <a:solidFill>
              <a:srgbClr val="BFD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73568" y="5303520"/>
            <a:ext cx="3429000" cy="10241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1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돌봄이음</a:t>
            </a:r>
          </a:p>
          <a:p>
            <a:pPr algn="l">
              <a:lnSpc>
                <a:spcPct val="125000"/>
              </a:lnSpc>
            </a:pPr>
            <a:r>
              <a:rPr sz="1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대상자별 기록 연결</a:t>
            </a:r>
          </a:p>
          <a:p>
            <a:pPr algn="l">
              <a:lnSpc>
                <a:spcPct val="125000"/>
              </a:lnSpc>
            </a:pPr>
            <a:r>
              <a:rPr sz="125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기관 간 인수인계·위험신호 확인까지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목표: 기록·연계·안전의 To-Be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정량목표와 정성목표를 한 장으로 압축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87" y="1627632"/>
            <a:ext cx="8617120" cy="4727448"/>
          </a:xfrm>
          <a:prstGeom prst="rect">
            <a:avLst/>
          </a:prstGeom>
          <a:ln w="9525">
            <a:solidFill>
              <a:srgbClr val="DCE3F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추진내용: MVP 핵심 기능과 현장검증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30초 구술에서 규격 산출물 3종까지 이어지는 실행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88" y="1627632"/>
            <a:ext cx="7319919" cy="4727448"/>
          </a:xfrm>
          <a:prstGeom prst="rect">
            <a:avLst/>
          </a:prstGeom>
          <a:ln w="9525">
            <a:solidFill>
              <a:srgbClr val="DCE3F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예상되는 어려움 및 극복방안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기술·운영·일정 리스크를 MVP 범위와 현장 운영 원칙으로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535680" cy="180594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47088"/>
            <a:ext cx="2667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5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실증기관 섭외 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3078480" cy="937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2563EB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광주 북구를 1순위로 접촉하고 노인복지관·수행기관을 병행 협의</a:t>
            </a:r>
          </a:p>
          <a:p>
            <a:pPr algn="l" marL="182880" indent="-182880">
              <a:lnSpc>
                <a:spcPct val="115000"/>
              </a:lnSpc>
              <a:buClr>
                <a:srgbClr val="2563EB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기관 섭외가 어려우면 개인 참여형 파일럿으로 대체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645920"/>
            <a:ext cx="3535680" cy="180594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59808" y="184708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59808" y="18470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4440" y="1847088"/>
            <a:ext cx="2667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50" b="1" i="0" lang="ko-KR" altLang="en-US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음성인식 정확도 저하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377440"/>
            <a:ext cx="3078480" cy="937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어르신 음성이 아닌 돌봄인력 본인의 구술을 입력</a:t>
            </a:r>
          </a:p>
          <a:p>
            <a:pPr algn="l" marL="182880" indent="-182880">
              <a:lnSpc>
                <a:spcPct val="115000"/>
              </a:lnSpc>
              <a:buClr>
                <a:srgbClr val="16A34A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STT 결과를 AI가 문맥 보정하고 텍스트 직접 입력도 병행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535680" cy="180594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24088" y="1847088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24088" y="18470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8720" y="1847088"/>
            <a:ext cx="2667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50" b="1" i="0" lang="ko-KR" altLang="en-US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개인정보·민감정보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520" y="2377440"/>
            <a:ext cx="3078480" cy="937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DC2626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음성 원본과 개인식별정보 미저장, 가명처리 원칙 적용</a:t>
            </a:r>
          </a:p>
          <a:p>
            <a:pPr algn="l" marL="182880" indent="-182880">
              <a:lnSpc>
                <a:spcPct val="115000"/>
              </a:lnSpc>
              <a:buClr>
                <a:srgbClr val="DC2626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현장 실증 전 참여자 사전동의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80460"/>
            <a:ext cx="3535680" cy="180594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95528" y="3881628"/>
            <a:ext cx="365760" cy="36576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5528" y="38816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81628"/>
            <a:ext cx="2667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50" b="1" i="0" lang="ko-KR" altLang="en-US">
                <a:solidFill>
                  <a:srgbClr val="0E9AA7"/>
                </a:solidFill>
                <a:latin typeface="맑은 고딕"/>
                <a:ea typeface="맑은 고딕"/>
                <a:cs typeface="맑은 고딕"/>
              </a:rPr>
              <a:t>기존 시스템 중복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11980"/>
            <a:ext cx="3078480" cy="937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0E9AA7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기존 시스템을 대체하지 않고 초안 생성 보조도구로 운영</a:t>
            </a:r>
          </a:p>
          <a:p>
            <a:pPr algn="l" marL="182880" indent="-182880">
              <a:lnSpc>
                <a:spcPct val="115000"/>
              </a:lnSpc>
              <a:buClr>
                <a:srgbClr val="0E9AA7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복사·붙여넣기 가능한 규격 텍스트로 업무 흐름에 연계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1208" y="3680460"/>
            <a:ext cx="3535680" cy="180594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59808" y="3881628"/>
            <a:ext cx="365760" cy="365760"/>
          </a:xfrm>
          <a:prstGeom prst="ellipse">
            <a:avLst/>
          </a:prstGeom>
          <a:solidFill>
            <a:srgbClr val="EA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59808" y="38816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4440" y="3881628"/>
            <a:ext cx="2667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50" b="1" i="0" lang="ko-KR" altLang="en-US">
                <a:solidFill>
                  <a:srgbClr val="EA7A1E"/>
                </a:solidFill>
                <a:latin typeface="맑은 고딕"/>
                <a:ea typeface="맑은 고딕"/>
                <a:cs typeface="맑은 고딕"/>
              </a:rPr>
              <a:t>7주 개발 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7240" y="4411980"/>
            <a:ext cx="3078480" cy="937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A7A1E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MVP를 핵심 기능 3종으로 한정</a:t>
            </a:r>
          </a:p>
          <a:p>
            <a:pPr algn="l" marL="182880" indent="-182880">
              <a:lnSpc>
                <a:spcPct val="115000"/>
              </a:lnSpc>
              <a:buClr>
                <a:srgbClr val="EA7A1E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기능 ① 음성→기록 초안을 최소 완성요건으로 우선 개발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5488" y="3680460"/>
            <a:ext cx="3535680" cy="180594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324088" y="388162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24088" y="38816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8720" y="3881628"/>
            <a:ext cx="2667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5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AI 결과 부정확성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1520" y="4411980"/>
            <a:ext cx="3078480" cy="937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7C3AED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모든 결과는 최종본이 아닌 초안으로 제공</a:t>
            </a:r>
          </a:p>
          <a:p>
            <a:pPr algn="l" marL="182880" indent="-182880">
              <a:lnSpc>
                <a:spcPct val="115000"/>
              </a:lnSpc>
              <a:buClr>
                <a:srgbClr val="7C3AED"/>
              </a:buClr>
              <a:buFont typeface="Arial"/>
              <a:buChar char="•"/>
            </a:pPr>
            <a:r>
              <a:rPr sz="12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이상징후는 판정이 아닌 ‘확인 필요 신호’로만 표시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19354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32688" y="576072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400" b="1" i="0" lang="ko-KR" altLang="en-US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운영 원칙   </a:t>
            </a: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판단자가 아니라 현장인력이 확인·수정할 수 있는 기록·연계 보조자입니다.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돌봄인력의 시간을 회복하고 기관 간 공백을 줄이며 전국 확산 모델로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5052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588008" y="1874519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588008" y="1874519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돌봄인력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04288"/>
            <a:ext cx="35052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40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50%↓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27248"/>
            <a:ext cx="29565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기록·행정시간 감소</a:t>
            </a:r>
          </a:p>
          <a:p>
            <a:pPr algn="ctr">
              <a:lnSpc>
                <a:spcPct val="12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돌봄시간 확대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1645920"/>
            <a:ext cx="35052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367528" y="1874519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67528" y="1874519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참여기관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6448" y="2304288"/>
            <a:ext cx="35052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4000" b="1" i="0" lang="ko-KR" altLang="en-US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연계↑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3127248"/>
            <a:ext cx="29565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기록 공유·인수인계 개선</a:t>
            </a:r>
          </a:p>
          <a:p>
            <a:pPr algn="ctr">
              <a:lnSpc>
                <a:spcPct val="12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기관 간 정보 단절 축소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1645920"/>
            <a:ext cx="35052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147048" y="1874519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7048" y="1874519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돌봄 대상자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304288"/>
            <a:ext cx="35052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40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안전↑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288" y="3127248"/>
            <a:ext cx="29565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위험신호 조기 발견</a:t>
            </a:r>
          </a:p>
          <a:p>
            <a:pPr algn="ctr">
              <a:lnSpc>
                <a:spcPct val="12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대응 지연·돌봄 공백 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5394960" cy="2167128"/>
          </a:xfrm>
          <a:prstGeom prst="roundRect">
            <a:avLst>
              <a:gd name="adj" fmla="val 5063"/>
            </a:avLst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41247" y="44348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7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434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7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확산 가능성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983480"/>
            <a:ext cx="4809744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2026년 전국 통합돌봄 시행으로 다기관 협업 과제가 확대됩니다. 광주에서 검증한 모델은 전남·전북 등 생활권 인접 지역과 전국 지자체로 확산할 수 있습니다.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160520"/>
            <a:ext cx="5394960" cy="2167128"/>
          </a:xfrm>
          <a:prstGeom prst="roundRect">
            <a:avLst>
              <a:gd name="adj" fmla="val 5063"/>
            </a:avLst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510528" y="44348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10528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4434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7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사회적 가치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983480"/>
            <a:ext cx="4809744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초고령사회에서 기록 부담을 줄여 돌봄업무의 지속가능성을 높이고, 공공 영역과 연계 가능한 공익 도구의 원형을 제시합니다.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가상연출도: 이상징후 확인과 연계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현장 기록이 기관 간 확인 가능한 화면과 모바일 알림 초안으로 전환되는 모습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3655"/>
            <a:ext cx="7726679" cy="4346257"/>
          </a:xfrm>
          <a:prstGeom prst="rect">
            <a:avLst/>
          </a:prstGeom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613647" y="1645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기록 속 위험 신호 탐지·표시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3647" y="2148840"/>
            <a:ext cx="3017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796527" y="228600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16567" y="2148840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약 미복용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7" y="2679192"/>
            <a:ext cx="3017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796527" y="2816352"/>
            <a:ext cx="164592" cy="164592"/>
          </a:xfrm>
          <a:prstGeom prst="ellipse">
            <a:avLst/>
          </a:prstGeom>
          <a:solidFill>
            <a:srgbClr val="EA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16567" y="2679192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식사량 감소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13647" y="3209544"/>
            <a:ext cx="3017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796527" y="3346703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7" y="3209544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낙상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7" y="3739896"/>
            <a:ext cx="3017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796527" y="3877056"/>
            <a:ext cx="164592" cy="16459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16567" y="3739896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정서적 위축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13647" y="4270248"/>
            <a:ext cx="3017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796527" y="440740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16567" y="427024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방문 거부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7" y="484632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담당자 또는 연계기관에 전달할 알림 문안 초안을 자동 제시합니다.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3647" y="5504688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42247" y="5504688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신호를 모아 </a:t>
            </a:r>
            <a:r>
              <a:rPr sz="1350" b="1" i="0" lang="ko-KR" altLang="en-US">
                <a:solidFill>
                  <a:srgbClr val="FCD34D"/>
                </a:solidFill>
                <a:latin typeface="맑은 고딕"/>
                <a:ea typeface="맑은 고딕"/>
                <a:cs typeface="맑은 고딕"/>
              </a:rPr>
              <a:t>‘먼저 볼 대상자’</a:t>
            </a:r>
            <a:r>
              <a:rPr sz="13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</a:t>
            </a:r>
          </a:p>
          <a:p>
            <a:pPr algn="l">
              <a:lnSpc>
                <a:spcPct val="125000"/>
              </a:lnSpc>
            </a:pPr>
            <a:r>
              <a:rPr sz="13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제시합니다.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731520"/>
            <a:ext cx="566928" cy="384048"/>
          </a:xfrm>
          <a:prstGeom prst="roundRect">
            <a:avLst>
              <a:gd name="adj" fmla="val 23809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5836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지원금 활용계획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17043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직접 개발을 전제로 API 사용료와 현장 실증 비용에 집중 편성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4206240" cy="4681728"/>
          </a:xfrm>
          <a:prstGeom prst="roundRect">
            <a:avLst>
              <a:gd name="adj" fmla="val 3043"/>
            </a:avLst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78408" y="1920240"/>
          <a:ext cx="3383279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78408" y="31546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총 예산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4747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300만원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413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0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총 3,000,000원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외주 비중은 최소화하고, 서비스 구현·실증·검증에 필요한 비용을 우선 배분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7" y="1645920"/>
            <a:ext cx="653796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294375" y="180136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94375" y="18013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재료비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5" y="164592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6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150만원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6459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API·STT·호스팅·조사용 물품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88168" y="1645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3207" y="2414016"/>
            <a:ext cx="653796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294375" y="25694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94375" y="256946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지급자문료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5" y="241401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600" b="1" i="0" lang="ko-KR" altLang="en-US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50만원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414016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전문가 자문 및 멘토링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88168" y="2414016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3207" y="3182112"/>
            <a:ext cx="653796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294375" y="33375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94375" y="333756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용역비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5" y="318211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6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30만원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182112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UI/UX 디자인 부분 외주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88168" y="31821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93207" y="3950208"/>
            <a:ext cx="653796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294375" y="410565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A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294375" y="410565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국내여비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5975" y="3950208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600" b="1" i="0" lang="ko-KR" altLang="en-US">
                <a:solidFill>
                  <a:srgbClr val="EA7A1E"/>
                </a:solidFill>
                <a:latin typeface="맑은 고딕"/>
                <a:ea typeface="맑은 고딕"/>
                <a:cs typeface="맑은 고딕"/>
              </a:rPr>
              <a:t>50만원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39502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선행사례 조사·실증기관 방문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88168" y="395020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17%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93207" y="4718304"/>
            <a:ext cx="653796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294375" y="4873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294375" y="48737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홍보비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5975" y="4718304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600" b="1" i="0" lang="ko-KR" altLang="en-US">
                <a:solidFill>
                  <a:srgbClr val="0E9AA7"/>
                </a:solidFill>
                <a:latin typeface="맑은 고딕"/>
                <a:ea typeface="맑은 고딕"/>
                <a:cs typeface="맑은 고딕"/>
              </a:rPr>
              <a:t>20만원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4718304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0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소개 페이지·성과 시연 영상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8168" y="4718304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7%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93207" y="5541264"/>
            <a:ext cx="6537960" cy="786384"/>
          </a:xfrm>
          <a:prstGeom prst="roundRect">
            <a:avLst>
              <a:gd name="adj" fmla="val 13953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413247" y="5541264"/>
            <a:ext cx="58978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300" b="1" i="0" lang="ko-KR" altLang="en-US">
                <a:solidFill>
                  <a:srgbClr val="FCD34D"/>
                </a:solidFill>
                <a:latin typeface="맑은 고딕"/>
                <a:ea typeface="맑은 고딕"/>
                <a:cs typeface="맑은 고딕"/>
              </a:rPr>
              <a:t>예산의 50%</a:t>
            </a: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는 생성형 AI·STT·클라우드 등 실제 MVP 구현 재료비에 배정합니다.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66928" y="868680"/>
            <a:ext cx="5623560" cy="3246120"/>
          </a:xfrm>
          <a:prstGeom prst="roundRect">
            <a:avLst>
              <a:gd name="adj" fmla="val 507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14400" y="1207008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1B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207008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 마이AI랩 AI-이음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50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돌봄이음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90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30초 구술로 기록 부담을 줄이고,</a:t>
            </a:r>
          </a:p>
          <a:p>
            <a:pPr algn="l">
              <a:lnSpc>
                <a:spcPct val="125000"/>
              </a:lnSpc>
            </a:pPr>
            <a:r>
              <a:rPr sz="1900" b="1" i="0" lang="ko-KR" altLang="en-US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기관 간 돌봄 맥락</a:t>
            </a:r>
            <a:r>
              <a:rPr sz="190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을 이어갑니다.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51560"/>
            <a:ext cx="5120640" cy="2880360"/>
          </a:xfrm>
          <a:prstGeom prst="rect">
            <a:avLst/>
          </a:prstGeom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566928" y="4434840"/>
            <a:ext cx="350520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1247" y="4709159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70915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4617720"/>
            <a:ext cx="227076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규격 돌봄기록 초안 자동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448" y="4434840"/>
            <a:ext cx="350520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620768" y="4709159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20768" y="470915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4617720"/>
            <a:ext cx="227076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대상자별 통합 인수인계 브리핑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5968" y="4434840"/>
            <a:ext cx="350520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00288" y="4709159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00288" y="470915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7528" y="4617720"/>
            <a:ext cx="227076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50" b="1" i="0" lang="ko-KR" altLang="en-US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이상징후 표시와 알림 초안 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2767" y="5788152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>
            <a:outerShdw blurRad="127000" dist="25400" dir="5400000" algn="t" rotWithShape="0">
              <a:srgbClr val="1B2F6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578815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600" b="1" i="0" lang="ko-KR" altLang="en-US">
                <a:solidFill>
                  <a:srgbClr val="1B2F6E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  참가자  표준범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796</Words>
  <Application>Microsoft Office PowerPoint</Application>
  <PresentationFormat>와이드스크린</PresentationFormat>
  <Paragraphs>118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나눔고딕</vt:lpstr>
      <vt:lpstr>나눔고딕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윤원찬</dc:creator>
  <cp:keywords/>
  <dc:description>generated using python-pptx</dc:description>
  <cp:lastModifiedBy>국립광주과학관</cp:lastModifiedBy>
  <cp:revision>6</cp:revision>
  <dcterms:created xsi:type="dcterms:W3CDTF">2013-01-27T09:14:16Z</dcterms:created>
  <dcterms:modified xsi:type="dcterms:W3CDTF">2026-09-21T00:25:05Z</dcterms:modified>
  <cp:category/>
</cp:coreProperties>
</file>